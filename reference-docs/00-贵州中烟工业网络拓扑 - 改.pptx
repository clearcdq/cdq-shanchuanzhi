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9" r:id="rId2"/>
    <p:sldId id="298" r:id="rId3"/>
    <p:sldId id="285" r:id="rId4"/>
    <p:sldId id="296" r:id="rId5"/>
    <p:sldId id="289" r:id="rId6"/>
    <p:sldId id="290" r:id="rId7"/>
    <p:sldId id="287" r:id="rId8"/>
    <p:sldId id="291" r:id="rId9"/>
    <p:sldId id="292" r:id="rId10"/>
    <p:sldId id="293" r:id="rId11"/>
    <p:sldId id="294" r:id="rId12"/>
    <p:sldId id="295" r:id="rId13"/>
    <p:sldId id="300" r:id="rId1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93" autoAdjust="0"/>
    <p:restoredTop sz="93573" autoAdjust="0"/>
  </p:normalViewPr>
  <p:slideViewPr>
    <p:cSldViewPr snapToGrid="0">
      <p:cViewPr varScale="1">
        <p:scale>
          <a:sx n="63" d="100"/>
          <a:sy n="63" d="100"/>
        </p:scale>
        <p:origin x="456" y="44"/>
      </p:cViewPr>
      <p:guideLst>
        <p:guide orient="horz" pos="2182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C4C02784-3C07-45FC-8594-29F050FA961E}" type="datetime1">
              <a:rPr lang="zh-CN" altLang="en-US"/>
              <a:pPr/>
              <a:t>2020/6/2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sz="1200"/>
              <a:t>单击此处编辑母版文本样式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sz="1200"/>
              <a:t>第二级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sz="1200"/>
              <a:t>第三级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sz="1200"/>
              <a:t>第四级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sz="120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5B63D538-7891-4853-B7E0-4FBD0CA8921F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84749070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C02784-3C07-45FC-8594-29F050FA961E}" type="datetime1">
              <a:rPr lang="zh-CN" altLang="en-US" smtClean="0"/>
              <a:pPr/>
              <a:t>2020/6/2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63D538-7891-4853-B7E0-4FBD0CA8921F}" type="slidenum">
              <a:rPr lang="zh-CN" altLang="en-US" smtClean="0"/>
              <a:pPr/>
              <a:t>1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88191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C02784-3C07-45FC-8594-29F050FA961E}" type="datetime1">
              <a:rPr lang="zh-CN" altLang="en-US" smtClean="0"/>
              <a:pPr/>
              <a:t>2020/6/2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63D538-7891-4853-B7E0-4FBD0CA8921F}" type="slidenum">
              <a:rPr lang="zh-CN" altLang="en-US" smtClean="0"/>
              <a:pPr/>
              <a:t>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50073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C02784-3C07-45FC-8594-29F050FA961E}" type="datetime1">
              <a:rPr lang="zh-CN" altLang="en-US" smtClean="0"/>
              <a:pPr/>
              <a:t>2020/6/2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63D538-7891-4853-B7E0-4FBD0CA8921F}" type="slidenum">
              <a:rPr lang="zh-CN" altLang="en-US" smtClean="0"/>
              <a:pPr/>
              <a:t>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888607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4C02784-3C07-45FC-8594-29F050FA961E}" type="datetime1">
              <a:rPr lang="zh-CN" altLang="en-US" smtClean="0"/>
              <a:pPr/>
              <a:t>2020/6/2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63D538-7891-4853-B7E0-4FBD0CA8921F}" type="slidenum">
              <a:rPr lang="zh-CN" altLang="en-US" smtClean="0"/>
              <a:pPr/>
              <a:t>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934765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BF98A-D54C-40A3-BD50-2B6B472D3F7A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83882B-8D9D-4616-88E8-119F83A194C7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B4825-F207-4865-A335-7CF8902513A1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B764D4-44D4-4D86-A243-68C4A1C4EAFA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31723-1F3C-4F02-8D4A-74CFC5D38885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E155A1-D247-4A91-A186-F650864D55A1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10F41B-0D84-4FB2-9093-9BE46F17CBCC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4D5DA-8B13-4902-8BAA-65665BD6E120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503217-5C60-40A5-A84F-5057C57B2B82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E6B2E0-96F0-4038-A1B5-172E209F52B0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958752-2E46-4FDD-950D-B5DCBD9F7987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 Light" pitchFamily="34" charset="0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>
                <a:sym typeface="Calibri" pitchFamily="34" charset="0"/>
              </a:rPr>
              <a:t>单击此处编辑母版文本样式</a:t>
            </a:r>
          </a:p>
          <a:p>
            <a:pPr lvl="1"/>
            <a:r>
              <a:rPr lang="zh-CN">
                <a:sym typeface="Calibri" pitchFamily="34" charset="0"/>
              </a:rPr>
              <a:t>第二级</a:t>
            </a:r>
          </a:p>
          <a:p>
            <a:pPr lvl="2"/>
            <a:r>
              <a:rPr lang="zh-CN">
                <a:sym typeface="Calibri" pitchFamily="34" charset="0"/>
              </a:rPr>
              <a:t>第三级</a:t>
            </a:r>
          </a:p>
          <a:p>
            <a:pPr lvl="3"/>
            <a:r>
              <a:rPr lang="zh-CN">
                <a:sym typeface="Calibri" pitchFamily="34" charset="0"/>
              </a:rPr>
              <a:t>第四级</a:t>
            </a:r>
          </a:p>
          <a:p>
            <a:pPr lvl="4"/>
            <a:r>
              <a:rPr lang="zh-CN">
                <a:sym typeface="Calibri" pitchFamily="34" charset="0"/>
              </a:rPr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8C55327C-A852-43A8-8ABA-2561D9FE215E}" type="datetime1">
              <a:rPr lang="zh-CN" altLang="en-US"/>
              <a:pPr/>
              <a:t>2020/6/2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17F129F1-DFB4-4203-9FC6-060863B476A6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  <a:sym typeface="Calibri Light" pitchFamily="34" charset="0"/>
        </a:defRPr>
      </a:lvl1pPr>
      <a:lvl2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2pPr>
      <a:lvl3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3pPr>
      <a:lvl4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4pPr>
      <a:lvl5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  <a:sym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  <a:sym typeface="Calibri" pitchFamily="34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sym typeface="Calibri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  <a:sym typeface="Calibri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  <a:sym typeface="Calibr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emf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emf"/><Relationship Id="rId11" Type="http://schemas.openxmlformats.org/officeDocument/2006/relationships/image" Target="../media/image11.png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2.bin"/><Relationship Id="rId4" Type="http://schemas.openxmlformats.org/officeDocument/2006/relationships/image" Target="../media/image16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png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png"/><Relationship Id="rId4" Type="http://schemas.openxmlformats.org/officeDocument/2006/relationships/image" Target="../media/image2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12" Type="http://schemas.openxmlformats.org/officeDocument/2006/relationships/image" Target="../media/image20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24.e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5" name="Picture 509" descr="防火墙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82401" y="940178"/>
            <a:ext cx="419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19" name="Picture 509" descr="防火墙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2137" y="985094"/>
            <a:ext cx="419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5" name="直接连接符 54"/>
          <p:cNvCxnSpPr>
            <a:endCxn id="3115" idx="0"/>
          </p:cNvCxnSpPr>
          <p:nvPr/>
        </p:nvCxnSpPr>
        <p:spPr bwMode="auto">
          <a:xfrm>
            <a:off x="4291366" y="618597"/>
            <a:ext cx="585" cy="3215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接连接符 56"/>
          <p:cNvCxnSpPr>
            <a:endCxn id="3119" idx="0"/>
          </p:cNvCxnSpPr>
          <p:nvPr/>
        </p:nvCxnSpPr>
        <p:spPr bwMode="auto">
          <a:xfrm>
            <a:off x="5691106" y="635520"/>
            <a:ext cx="581" cy="34957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1" name="Picture 465" descr="图片15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9204" y="5123548"/>
            <a:ext cx="355536" cy="367588"/>
          </a:xfrm>
          <a:prstGeom prst="rect">
            <a:avLst/>
          </a:prstGeom>
          <a:noFill/>
        </p:spPr>
      </p:pic>
      <p:pic>
        <p:nvPicPr>
          <p:cNvPr id="82" name="Picture 465" descr="图片15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5491" y="5135989"/>
            <a:ext cx="355536" cy="367588"/>
          </a:xfrm>
          <a:prstGeom prst="rect">
            <a:avLst/>
          </a:prstGeom>
          <a:noFill/>
        </p:spPr>
      </p:pic>
      <p:cxnSp>
        <p:nvCxnSpPr>
          <p:cNvPr id="84" name="直接连接符 83"/>
          <p:cNvCxnSpPr>
            <a:stCxn id="81" idx="0"/>
            <a:endCxn id="97" idx="2"/>
          </p:cNvCxnSpPr>
          <p:nvPr/>
        </p:nvCxnSpPr>
        <p:spPr bwMode="auto">
          <a:xfrm flipV="1">
            <a:off x="326972" y="3732247"/>
            <a:ext cx="4268263" cy="1391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直接连接符 85"/>
          <p:cNvCxnSpPr>
            <a:stCxn id="82" idx="0"/>
            <a:endCxn id="98" idx="2"/>
          </p:cNvCxnSpPr>
          <p:nvPr/>
        </p:nvCxnSpPr>
        <p:spPr bwMode="auto">
          <a:xfrm flipV="1">
            <a:off x="843259" y="3735356"/>
            <a:ext cx="4454883" cy="140063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7" name="Picture 238" descr="图片77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33587" y="5897409"/>
            <a:ext cx="1115558" cy="435918"/>
          </a:xfrm>
          <a:prstGeom prst="rect">
            <a:avLst/>
          </a:prstGeom>
          <a:noFill/>
        </p:spPr>
      </p:pic>
      <p:cxnSp>
        <p:nvCxnSpPr>
          <p:cNvPr id="89" name="直接连接符 88"/>
          <p:cNvCxnSpPr>
            <a:stCxn id="97" idx="2"/>
            <a:endCxn id="87" idx="0"/>
          </p:cNvCxnSpPr>
          <p:nvPr/>
        </p:nvCxnSpPr>
        <p:spPr bwMode="auto">
          <a:xfrm flipH="1">
            <a:off x="4291366" y="3732247"/>
            <a:ext cx="303869" cy="21651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直接连接符 90"/>
          <p:cNvCxnSpPr>
            <a:stCxn id="98" idx="2"/>
            <a:endCxn id="87" idx="0"/>
          </p:cNvCxnSpPr>
          <p:nvPr/>
        </p:nvCxnSpPr>
        <p:spPr bwMode="auto">
          <a:xfrm flipH="1">
            <a:off x="4291366" y="3735356"/>
            <a:ext cx="1006776" cy="216205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9" name="TextBox 98"/>
          <p:cNvSpPr txBox="1"/>
          <p:nvPr/>
        </p:nvSpPr>
        <p:spPr>
          <a:xfrm>
            <a:off x="137984" y="5997854"/>
            <a:ext cx="986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分支专网</a:t>
            </a:r>
          </a:p>
        </p:txBody>
      </p:sp>
      <p:pic>
        <p:nvPicPr>
          <p:cNvPr id="108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28455" y="5459868"/>
            <a:ext cx="350772" cy="560122"/>
          </a:xfrm>
          <a:prstGeom prst="rect">
            <a:avLst/>
          </a:prstGeom>
          <a:noFill/>
        </p:spPr>
      </p:pic>
      <p:sp>
        <p:nvSpPr>
          <p:cNvPr id="109" name="TextBox 108"/>
          <p:cNvSpPr txBox="1"/>
          <p:nvPr/>
        </p:nvSpPr>
        <p:spPr>
          <a:xfrm>
            <a:off x="6193534" y="6150779"/>
            <a:ext cx="85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天融信</a:t>
            </a:r>
            <a:r>
              <a:rPr lang="en-US" altLang="zh-CN" sz="1200" dirty="0"/>
              <a:t>SSLVPN</a:t>
            </a:r>
            <a:endParaRPr lang="zh-CN" altLang="en-US" sz="1200" dirty="0"/>
          </a:p>
        </p:txBody>
      </p:sp>
      <p:cxnSp>
        <p:nvCxnSpPr>
          <p:cNvPr id="111" name="直接连接符 110"/>
          <p:cNvCxnSpPr>
            <a:stCxn id="97" idx="2"/>
            <a:endCxn id="108" idx="0"/>
          </p:cNvCxnSpPr>
          <p:nvPr/>
        </p:nvCxnSpPr>
        <p:spPr bwMode="auto">
          <a:xfrm>
            <a:off x="4595235" y="3732247"/>
            <a:ext cx="1908606" cy="17276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8" name="TextBox 117"/>
          <p:cNvSpPr txBox="1"/>
          <p:nvPr/>
        </p:nvSpPr>
        <p:spPr>
          <a:xfrm>
            <a:off x="3922337" y="6003485"/>
            <a:ext cx="7091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国家局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68593" y="247404"/>
            <a:ext cx="15208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服务器区</a:t>
            </a:r>
          </a:p>
        </p:txBody>
      </p:sp>
      <p:pic>
        <p:nvPicPr>
          <p:cNvPr id="178" name="Picture 461" descr="图片24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779921" y="5444057"/>
            <a:ext cx="339336" cy="354852"/>
          </a:xfrm>
          <a:prstGeom prst="rect">
            <a:avLst/>
          </a:prstGeom>
          <a:noFill/>
        </p:spPr>
      </p:pic>
      <p:sp>
        <p:nvSpPr>
          <p:cNvPr id="179" name="TextBox 178"/>
          <p:cNvSpPr txBox="1"/>
          <p:nvPr/>
        </p:nvSpPr>
        <p:spPr>
          <a:xfrm>
            <a:off x="6833118" y="6086670"/>
            <a:ext cx="7538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AC6605</a:t>
            </a:r>
            <a:endParaRPr lang="zh-CN" altLang="en-US" sz="1200" dirty="0"/>
          </a:p>
        </p:txBody>
      </p:sp>
      <p:cxnSp>
        <p:nvCxnSpPr>
          <p:cNvPr id="181" name="直接连接符 180"/>
          <p:cNvCxnSpPr>
            <a:stCxn id="98" idx="2"/>
            <a:endCxn id="178" idx="0"/>
          </p:cNvCxnSpPr>
          <p:nvPr/>
        </p:nvCxnSpPr>
        <p:spPr bwMode="auto">
          <a:xfrm>
            <a:off x="5298142" y="3735356"/>
            <a:ext cx="1651447" cy="17087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3" name="直接箭头连接符 182"/>
          <p:cNvCxnSpPr>
            <a:stCxn id="97" idx="2"/>
            <a:endCxn id="178" idx="0"/>
          </p:cNvCxnSpPr>
          <p:nvPr/>
        </p:nvCxnSpPr>
        <p:spPr bwMode="auto">
          <a:xfrm>
            <a:off x="4595235" y="3732247"/>
            <a:ext cx="2354354" cy="17118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5" name="直接连接符 184"/>
          <p:cNvCxnSpPr>
            <a:stCxn id="97" idx="2"/>
            <a:endCxn id="186" idx="0"/>
          </p:cNvCxnSpPr>
          <p:nvPr/>
        </p:nvCxnSpPr>
        <p:spPr bwMode="auto">
          <a:xfrm>
            <a:off x="4595235" y="3732247"/>
            <a:ext cx="3243873" cy="17709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86" name="Picture 461" descr="图片24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69440" y="5503151"/>
            <a:ext cx="339336" cy="354852"/>
          </a:xfrm>
          <a:prstGeom prst="rect">
            <a:avLst/>
          </a:prstGeom>
          <a:noFill/>
        </p:spPr>
      </p:pic>
      <p:cxnSp>
        <p:nvCxnSpPr>
          <p:cNvPr id="190" name="直接连接符 189"/>
          <p:cNvCxnSpPr>
            <a:stCxn id="98" idx="2"/>
            <a:endCxn id="186" idx="0"/>
          </p:cNvCxnSpPr>
          <p:nvPr/>
        </p:nvCxnSpPr>
        <p:spPr bwMode="auto">
          <a:xfrm>
            <a:off x="5298142" y="3735356"/>
            <a:ext cx="2540966" cy="17677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7819054" y="5977813"/>
            <a:ext cx="1063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楼层交换机（</a:t>
            </a:r>
            <a:r>
              <a:rPr lang="en-US" altLang="zh-CN" sz="1200" dirty="0"/>
              <a:t>5</a:t>
            </a:r>
            <a:r>
              <a:rPr lang="zh-CN" altLang="en-US" sz="1200" dirty="0"/>
              <a:t>台）</a:t>
            </a:r>
          </a:p>
        </p:txBody>
      </p:sp>
      <p:pic>
        <p:nvPicPr>
          <p:cNvPr id="199" name="Picture 465" descr="图片15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83909" y="2228042"/>
            <a:ext cx="355536" cy="367588"/>
          </a:xfrm>
          <a:prstGeom prst="rect">
            <a:avLst/>
          </a:prstGeom>
          <a:noFill/>
        </p:spPr>
      </p:pic>
      <p:pic>
        <p:nvPicPr>
          <p:cNvPr id="204" name="Picture 461" descr="图片24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43612" y="4162662"/>
            <a:ext cx="339336" cy="354852"/>
          </a:xfrm>
          <a:prstGeom prst="rect">
            <a:avLst/>
          </a:prstGeom>
          <a:noFill/>
        </p:spPr>
      </p:pic>
      <p:cxnSp>
        <p:nvCxnSpPr>
          <p:cNvPr id="206" name="直接连接符 205"/>
          <p:cNvCxnSpPr>
            <a:stCxn id="98" idx="3"/>
            <a:endCxn id="204" idx="1"/>
          </p:cNvCxnSpPr>
          <p:nvPr/>
        </p:nvCxnSpPr>
        <p:spPr bwMode="auto">
          <a:xfrm>
            <a:off x="5534327" y="3490250"/>
            <a:ext cx="2309285" cy="8498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7" name="TextBox 206"/>
          <p:cNvSpPr txBox="1"/>
          <p:nvPr/>
        </p:nvSpPr>
        <p:spPr>
          <a:xfrm>
            <a:off x="8270033" y="4061934"/>
            <a:ext cx="584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营销中心协转</a:t>
            </a:r>
          </a:p>
        </p:txBody>
      </p:sp>
      <p:pic>
        <p:nvPicPr>
          <p:cNvPr id="218" name="Picture 461" descr="图片24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43612" y="3686815"/>
            <a:ext cx="339336" cy="354852"/>
          </a:xfrm>
          <a:prstGeom prst="rect">
            <a:avLst/>
          </a:prstGeom>
          <a:noFill/>
        </p:spPr>
      </p:pic>
      <p:sp>
        <p:nvSpPr>
          <p:cNvPr id="219" name="TextBox 218"/>
          <p:cNvSpPr txBox="1"/>
          <p:nvPr/>
        </p:nvSpPr>
        <p:spPr>
          <a:xfrm>
            <a:off x="8312840" y="3769431"/>
            <a:ext cx="189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RAisecom-</a:t>
            </a:r>
            <a:r>
              <a:rPr lang="zh-CN" altLang="en-US" sz="1200" dirty="0"/>
              <a:t>电信老专线</a:t>
            </a:r>
          </a:p>
        </p:txBody>
      </p:sp>
      <p:cxnSp>
        <p:nvCxnSpPr>
          <p:cNvPr id="236" name="直接连接符 235"/>
          <p:cNvCxnSpPr>
            <a:stCxn id="81" idx="3"/>
            <a:endCxn id="82" idx="1"/>
          </p:cNvCxnSpPr>
          <p:nvPr/>
        </p:nvCxnSpPr>
        <p:spPr bwMode="auto">
          <a:xfrm>
            <a:off x="504740" y="5307342"/>
            <a:ext cx="160751" cy="1244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1" name="TextBox 240"/>
          <p:cNvSpPr txBox="1"/>
          <p:nvPr/>
        </p:nvSpPr>
        <p:spPr>
          <a:xfrm>
            <a:off x="7653239" y="2595628"/>
            <a:ext cx="9952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USG</a:t>
            </a:r>
            <a:r>
              <a:rPr lang="zh-CN" altLang="en-US" sz="1200" dirty="0"/>
              <a:t>防火墙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499213" y="1553710"/>
            <a:ext cx="979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CE6800</a:t>
            </a:r>
            <a:endParaRPr lang="zh-CN" altLang="en-US" sz="1200" dirty="0"/>
          </a:p>
        </p:txBody>
      </p:sp>
      <p:sp>
        <p:nvSpPr>
          <p:cNvPr id="243" name="矩形 242"/>
          <p:cNvSpPr/>
          <p:nvPr/>
        </p:nvSpPr>
        <p:spPr bwMode="auto">
          <a:xfrm>
            <a:off x="7669440" y="211039"/>
            <a:ext cx="4066822" cy="318901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4" name="矩形 243"/>
          <p:cNvSpPr/>
          <p:nvPr/>
        </p:nvSpPr>
        <p:spPr bwMode="auto">
          <a:xfrm>
            <a:off x="30496" y="4990390"/>
            <a:ext cx="1113454" cy="131406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246" name="直接连接符 245"/>
          <p:cNvCxnSpPr>
            <a:stCxn id="98" idx="3"/>
            <a:endCxn id="218" idx="1"/>
          </p:cNvCxnSpPr>
          <p:nvPr/>
        </p:nvCxnSpPr>
        <p:spPr bwMode="auto">
          <a:xfrm>
            <a:off x="5534327" y="3490250"/>
            <a:ext cx="2309285" cy="3739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8" name="直接连接符 247"/>
          <p:cNvCxnSpPr/>
          <p:nvPr/>
        </p:nvCxnSpPr>
        <p:spPr bwMode="auto">
          <a:xfrm>
            <a:off x="9526555" y="5710335"/>
            <a:ext cx="5131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9" name="直接连接符 248"/>
          <p:cNvCxnSpPr/>
          <p:nvPr/>
        </p:nvCxnSpPr>
        <p:spPr bwMode="auto">
          <a:xfrm>
            <a:off x="9538990" y="5909387"/>
            <a:ext cx="5131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0" name="直接连接符 249"/>
          <p:cNvCxnSpPr/>
          <p:nvPr/>
        </p:nvCxnSpPr>
        <p:spPr bwMode="auto">
          <a:xfrm>
            <a:off x="9532763" y="6089779"/>
            <a:ext cx="5131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2" name="TextBox 251"/>
          <p:cNvSpPr txBox="1"/>
          <p:nvPr/>
        </p:nvSpPr>
        <p:spPr>
          <a:xfrm>
            <a:off x="10142378" y="5589036"/>
            <a:ext cx="148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10GG</a:t>
            </a:r>
            <a:r>
              <a:rPr lang="zh-CN" altLang="en-US" sz="1200" dirty="0"/>
              <a:t>光纤</a:t>
            </a:r>
            <a:endParaRPr lang="en-US" altLang="zh-CN" sz="1200" dirty="0"/>
          </a:p>
          <a:p>
            <a:r>
              <a:rPr lang="en-US" altLang="zh-CN" sz="1200" dirty="0"/>
              <a:t>GE</a:t>
            </a:r>
            <a:r>
              <a:rPr lang="zh-CN" altLang="en-US" sz="1200" dirty="0"/>
              <a:t>网线</a:t>
            </a:r>
            <a:endParaRPr lang="en-US" altLang="zh-CN" sz="1200" dirty="0"/>
          </a:p>
          <a:p>
            <a:r>
              <a:rPr lang="en-US" altLang="zh-CN" sz="1200" dirty="0"/>
              <a:t>GE</a:t>
            </a:r>
            <a:r>
              <a:rPr lang="zh-CN" altLang="en-US" sz="1200" dirty="0"/>
              <a:t>网线（管理口）</a:t>
            </a:r>
          </a:p>
        </p:txBody>
      </p:sp>
      <p:pic>
        <p:nvPicPr>
          <p:cNvPr id="97" name="Picture 460" descr="图片23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359050" y="3242034"/>
            <a:ext cx="472370" cy="490213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98" name="Picture 460" descr="图片23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61957" y="3245143"/>
            <a:ext cx="472370" cy="490213"/>
          </a:xfrm>
          <a:prstGeom prst="rect">
            <a:avLst/>
          </a:prstGeom>
          <a:solidFill>
            <a:srgbClr val="FFFF00"/>
          </a:solidFill>
        </p:spPr>
      </p:pic>
      <p:cxnSp>
        <p:nvCxnSpPr>
          <p:cNvPr id="112" name="直接连接符 111"/>
          <p:cNvCxnSpPr>
            <a:stCxn id="97" idx="3"/>
            <a:endCxn id="98" idx="1"/>
          </p:cNvCxnSpPr>
          <p:nvPr/>
        </p:nvCxnSpPr>
        <p:spPr bwMode="auto">
          <a:xfrm>
            <a:off x="4831420" y="3487141"/>
            <a:ext cx="230537" cy="3109"/>
          </a:xfrm>
          <a:prstGeom prst="line">
            <a:avLst/>
          </a:prstGeom>
          <a:solidFill>
            <a:schemeClr val="accent1"/>
          </a:solidFill>
          <a:ln w="25400" cap="flat" cmpd="dbl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7" name="椭圆 116"/>
          <p:cNvSpPr/>
          <p:nvPr/>
        </p:nvSpPr>
        <p:spPr bwMode="auto">
          <a:xfrm>
            <a:off x="4907902" y="3396343"/>
            <a:ext cx="83975" cy="19594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10306241" y="1794231"/>
            <a:ext cx="858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服务器区</a:t>
            </a:r>
          </a:p>
        </p:txBody>
      </p:sp>
      <p:pic>
        <p:nvPicPr>
          <p:cNvPr id="168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967657" y="1731166"/>
            <a:ext cx="252455" cy="403127"/>
          </a:xfrm>
          <a:prstGeom prst="rect">
            <a:avLst/>
          </a:prstGeom>
          <a:noFill/>
        </p:spPr>
      </p:pic>
      <p:pic>
        <p:nvPicPr>
          <p:cNvPr id="171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931637" y="2367726"/>
            <a:ext cx="252455" cy="403127"/>
          </a:xfrm>
          <a:prstGeom prst="rect">
            <a:avLst/>
          </a:prstGeom>
          <a:noFill/>
        </p:spPr>
      </p:pic>
      <p:cxnSp>
        <p:nvCxnSpPr>
          <p:cNvPr id="173" name="直接连接符 172"/>
          <p:cNvCxnSpPr>
            <a:stCxn id="167" idx="3"/>
            <a:endCxn id="171" idx="1"/>
          </p:cNvCxnSpPr>
          <p:nvPr/>
        </p:nvCxnSpPr>
        <p:spPr bwMode="auto">
          <a:xfrm flipV="1">
            <a:off x="9099483" y="2569290"/>
            <a:ext cx="832154" cy="13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5" name="直接连接符 174"/>
          <p:cNvCxnSpPr>
            <a:stCxn id="176" idx="3"/>
            <a:endCxn id="168" idx="1"/>
          </p:cNvCxnSpPr>
          <p:nvPr/>
        </p:nvCxnSpPr>
        <p:spPr bwMode="auto">
          <a:xfrm flipV="1">
            <a:off x="9040389" y="1932730"/>
            <a:ext cx="927268" cy="6566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76" name="Picture 459" descr="图片23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617920" y="1775735"/>
            <a:ext cx="422469" cy="445328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84" name="Picture 455" descr="图片2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65218" y="433870"/>
            <a:ext cx="498993" cy="392699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87" name="Picture 455" descr="图片2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421266" y="430762"/>
            <a:ext cx="498993" cy="392699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188" name="TextBox 187"/>
          <p:cNvSpPr txBox="1"/>
          <p:nvPr/>
        </p:nvSpPr>
        <p:spPr>
          <a:xfrm>
            <a:off x="3895530" y="171253"/>
            <a:ext cx="845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NE20E-A</a:t>
            </a:r>
            <a:endParaRPr lang="zh-CN" altLang="en-US" sz="1200" dirty="0"/>
          </a:p>
        </p:txBody>
      </p:sp>
      <p:sp>
        <p:nvSpPr>
          <p:cNvPr id="189" name="TextBox 188"/>
          <p:cNvSpPr txBox="1"/>
          <p:nvPr/>
        </p:nvSpPr>
        <p:spPr>
          <a:xfrm>
            <a:off x="5242235" y="183695"/>
            <a:ext cx="845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NE20E-B</a:t>
            </a:r>
            <a:endParaRPr lang="zh-CN" altLang="en-US" sz="1200" dirty="0"/>
          </a:p>
        </p:txBody>
      </p:sp>
      <p:sp>
        <p:nvSpPr>
          <p:cNvPr id="192" name="TextBox 191"/>
          <p:cNvSpPr txBox="1"/>
          <p:nvPr/>
        </p:nvSpPr>
        <p:spPr>
          <a:xfrm>
            <a:off x="4027728" y="3026229"/>
            <a:ext cx="926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S12700-A</a:t>
            </a:r>
            <a:endParaRPr lang="zh-CN" alt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4851932" y="3029339"/>
            <a:ext cx="926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S12700-B</a:t>
            </a:r>
            <a:endParaRPr lang="zh-CN" altLang="en-US" sz="1200" dirty="0"/>
          </a:p>
        </p:txBody>
      </p:sp>
      <p:sp>
        <p:nvSpPr>
          <p:cNvPr id="195" name="矩形 194"/>
          <p:cNvSpPr/>
          <p:nvPr/>
        </p:nvSpPr>
        <p:spPr bwMode="auto">
          <a:xfrm>
            <a:off x="4061925" y="2973356"/>
            <a:ext cx="1713723" cy="87085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03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50833" y="4815802"/>
            <a:ext cx="252455" cy="403127"/>
          </a:xfrm>
          <a:prstGeom prst="rect">
            <a:avLst/>
          </a:prstGeom>
          <a:noFill/>
        </p:spPr>
      </p:pic>
      <p:cxnSp>
        <p:nvCxnSpPr>
          <p:cNvPr id="105" name="直接连接符 104"/>
          <p:cNvCxnSpPr>
            <a:stCxn id="98" idx="3"/>
            <a:endCxn id="103" idx="1"/>
          </p:cNvCxnSpPr>
          <p:nvPr/>
        </p:nvCxnSpPr>
        <p:spPr bwMode="auto">
          <a:xfrm>
            <a:off x="5534327" y="3490250"/>
            <a:ext cx="2316506" cy="152711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6" name="TextBox 105"/>
          <p:cNvSpPr txBox="1"/>
          <p:nvPr/>
        </p:nvSpPr>
        <p:spPr>
          <a:xfrm>
            <a:off x="8144073" y="4755524"/>
            <a:ext cx="7822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网神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709440" y="976594"/>
            <a:ext cx="1418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天融信防火墙</a:t>
            </a:r>
            <a:r>
              <a:rPr lang="en-US" altLang="zh-CN" sz="1200" dirty="0"/>
              <a:t>-A</a:t>
            </a:r>
            <a:endParaRPr lang="zh-CN" altLang="en-US" sz="1200" dirty="0"/>
          </a:p>
        </p:txBody>
      </p:sp>
      <p:sp>
        <p:nvSpPr>
          <p:cNvPr id="140" name="TextBox 139"/>
          <p:cNvSpPr txBox="1"/>
          <p:nvPr/>
        </p:nvSpPr>
        <p:spPr>
          <a:xfrm>
            <a:off x="5838527" y="980666"/>
            <a:ext cx="14182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天融信防火墙</a:t>
            </a:r>
            <a:r>
              <a:rPr lang="en-US" altLang="zh-CN" sz="1200" dirty="0"/>
              <a:t>-B</a:t>
            </a:r>
            <a:endParaRPr lang="zh-CN" altLang="en-US" sz="1200" dirty="0"/>
          </a:p>
        </p:txBody>
      </p:sp>
      <p:pic>
        <p:nvPicPr>
          <p:cNvPr id="167" name="Picture 459" descr="图片23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677014" y="2348012"/>
            <a:ext cx="422469" cy="445328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19" name="Picture 459" descr="图片23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249292" y="1873706"/>
            <a:ext cx="277690" cy="292715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20" name="Picture 459" descr="图片23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227520" y="2439763"/>
            <a:ext cx="277690" cy="292715"/>
          </a:xfrm>
          <a:prstGeom prst="rect">
            <a:avLst/>
          </a:prstGeom>
          <a:solidFill>
            <a:srgbClr val="FFFF00"/>
          </a:solidFill>
        </p:spPr>
      </p:pic>
      <p:cxnSp>
        <p:nvCxnSpPr>
          <p:cNvPr id="122" name="直接连接符 121"/>
          <p:cNvCxnSpPr/>
          <p:nvPr/>
        </p:nvCxnSpPr>
        <p:spPr bwMode="auto">
          <a:xfrm flipH="1">
            <a:off x="8867222" y="2144649"/>
            <a:ext cx="3661" cy="22490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矩形 124"/>
          <p:cNvSpPr/>
          <p:nvPr/>
        </p:nvSpPr>
        <p:spPr bwMode="auto">
          <a:xfrm>
            <a:off x="8566083" y="1525720"/>
            <a:ext cx="598714" cy="135915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131" name="直接连接符 130"/>
          <p:cNvCxnSpPr>
            <a:stCxn id="98" idx="2"/>
            <a:endCxn id="108" idx="0"/>
          </p:cNvCxnSpPr>
          <p:nvPr/>
        </p:nvCxnSpPr>
        <p:spPr bwMode="auto">
          <a:xfrm>
            <a:off x="5298142" y="3735356"/>
            <a:ext cx="1205699" cy="17245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2" name="TextBox 151"/>
          <p:cNvSpPr txBox="1"/>
          <p:nvPr/>
        </p:nvSpPr>
        <p:spPr>
          <a:xfrm>
            <a:off x="10177277" y="2450777"/>
            <a:ext cx="1037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加密设备区</a:t>
            </a:r>
            <a:endParaRPr lang="en-US" altLang="zh-CN" sz="1200" b="1" dirty="0"/>
          </a:p>
        </p:txBody>
      </p:sp>
      <p:cxnSp>
        <p:nvCxnSpPr>
          <p:cNvPr id="126" name="直接连接符 125"/>
          <p:cNvCxnSpPr>
            <a:stCxn id="184" idx="3"/>
            <a:endCxn id="187" idx="1"/>
          </p:cNvCxnSpPr>
          <p:nvPr/>
        </p:nvCxnSpPr>
        <p:spPr bwMode="auto">
          <a:xfrm flipV="1">
            <a:off x="4564211" y="627112"/>
            <a:ext cx="857055" cy="31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23" name="Picture 455" descr="图片2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43074" y="5721096"/>
            <a:ext cx="385571" cy="303438"/>
          </a:xfrm>
          <a:prstGeom prst="rect">
            <a:avLst/>
          </a:prstGeom>
          <a:noFill/>
        </p:spPr>
      </p:pic>
      <p:cxnSp>
        <p:nvCxnSpPr>
          <p:cNvPr id="130" name="直接连接符 129"/>
          <p:cNvCxnSpPr>
            <a:stCxn id="81" idx="2"/>
            <a:endCxn id="123" idx="0"/>
          </p:cNvCxnSpPr>
          <p:nvPr/>
        </p:nvCxnSpPr>
        <p:spPr bwMode="auto">
          <a:xfrm>
            <a:off x="326972" y="5491136"/>
            <a:ext cx="208888" cy="2299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3" name="直接连接符 132"/>
          <p:cNvCxnSpPr>
            <a:stCxn id="123" idx="0"/>
            <a:endCxn id="82" idx="2"/>
          </p:cNvCxnSpPr>
          <p:nvPr/>
        </p:nvCxnSpPr>
        <p:spPr bwMode="auto">
          <a:xfrm flipV="1">
            <a:off x="535860" y="5503577"/>
            <a:ext cx="307399" cy="21751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1" name="Picture 455" descr="图片23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9287072" y="4913930"/>
            <a:ext cx="385571" cy="303438"/>
          </a:xfrm>
          <a:prstGeom prst="rect">
            <a:avLst/>
          </a:prstGeom>
          <a:noFill/>
        </p:spPr>
      </p:pic>
      <p:cxnSp>
        <p:nvCxnSpPr>
          <p:cNvPr id="154" name="直接连接符 153"/>
          <p:cNvCxnSpPr>
            <a:stCxn id="103" idx="3"/>
            <a:endCxn id="141" idx="1"/>
          </p:cNvCxnSpPr>
          <p:nvPr/>
        </p:nvCxnSpPr>
        <p:spPr bwMode="auto">
          <a:xfrm>
            <a:off x="8103288" y="5017366"/>
            <a:ext cx="1183784" cy="482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2" name="Picture 459" descr="图片23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144140" y="1865872"/>
            <a:ext cx="277690" cy="292715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48" name="Picture 459" descr="图片23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499660" y="1918389"/>
            <a:ext cx="277690" cy="292715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55" name="Picture 459" descr="图片23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309576" y="2456326"/>
            <a:ext cx="277690" cy="292715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56" name="Picture 459" descr="图片23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442558" y="2448542"/>
            <a:ext cx="277690" cy="292715"/>
          </a:xfrm>
          <a:prstGeom prst="rect">
            <a:avLst/>
          </a:prstGeom>
          <a:solidFill>
            <a:srgbClr val="FFFF00"/>
          </a:solidFill>
        </p:spPr>
      </p:pic>
      <p:pic>
        <p:nvPicPr>
          <p:cNvPr id="135" name="Object 190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076857" y="1433412"/>
            <a:ext cx="432565" cy="3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2" name="TextBox 228"/>
          <p:cNvSpPr txBox="1"/>
          <p:nvPr/>
        </p:nvSpPr>
        <p:spPr>
          <a:xfrm>
            <a:off x="2733252" y="1440154"/>
            <a:ext cx="130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防病毒过滤网关</a:t>
            </a:r>
          </a:p>
        </p:txBody>
      </p:sp>
      <p:pic>
        <p:nvPicPr>
          <p:cNvPr id="146" name="Picture 24" descr="WSD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829300" y="3857812"/>
            <a:ext cx="577850" cy="23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0" name="Picture 24" descr="WSD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494396" y="3860656"/>
            <a:ext cx="577850" cy="23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" name="TextBox 152"/>
          <p:cNvSpPr txBox="1"/>
          <p:nvPr/>
        </p:nvSpPr>
        <p:spPr>
          <a:xfrm>
            <a:off x="3149600" y="4064000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radware</a:t>
            </a:r>
            <a:endParaRPr lang="zh-CN" altLang="en-US" sz="1200" dirty="0"/>
          </a:p>
        </p:txBody>
      </p:sp>
      <p:sp>
        <p:nvSpPr>
          <p:cNvPr id="157" name="TextBox 156"/>
          <p:cNvSpPr txBox="1"/>
          <p:nvPr/>
        </p:nvSpPr>
        <p:spPr>
          <a:xfrm>
            <a:off x="6057900" y="4089400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radware</a:t>
            </a:r>
            <a:endParaRPr lang="zh-CN" altLang="en-US" sz="1200" dirty="0"/>
          </a:p>
        </p:txBody>
      </p:sp>
      <p:pic>
        <p:nvPicPr>
          <p:cNvPr id="158" name="Picture 465" descr="图片15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09309" y="2799542"/>
            <a:ext cx="355536" cy="367588"/>
          </a:xfrm>
          <a:prstGeom prst="rect">
            <a:avLst/>
          </a:prstGeom>
          <a:noFill/>
        </p:spPr>
      </p:pic>
      <p:cxnSp>
        <p:nvCxnSpPr>
          <p:cNvPr id="160" name="直接连接符 159"/>
          <p:cNvCxnSpPr/>
          <p:nvPr/>
        </p:nvCxnSpPr>
        <p:spPr bwMode="auto">
          <a:xfrm flipV="1">
            <a:off x="4017654" y="3643952"/>
            <a:ext cx="336550" cy="2810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直接连接符 161"/>
          <p:cNvCxnSpPr>
            <a:endCxn id="146" idx="1"/>
          </p:cNvCxnSpPr>
          <p:nvPr/>
        </p:nvCxnSpPr>
        <p:spPr bwMode="auto">
          <a:xfrm>
            <a:off x="5511800" y="3695700"/>
            <a:ext cx="317500" cy="2810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9" name="直接连接符 158"/>
          <p:cNvCxnSpPr/>
          <p:nvPr/>
        </p:nvCxnSpPr>
        <p:spPr bwMode="auto">
          <a:xfrm flipV="1">
            <a:off x="8232254" y="2086592"/>
            <a:ext cx="520700" cy="177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5" name="直接连接符 164"/>
          <p:cNvCxnSpPr/>
          <p:nvPr/>
        </p:nvCxnSpPr>
        <p:spPr bwMode="auto">
          <a:xfrm flipV="1">
            <a:off x="8244954" y="2746992"/>
            <a:ext cx="520700" cy="177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0" name="直接连接符 169"/>
          <p:cNvCxnSpPr/>
          <p:nvPr/>
        </p:nvCxnSpPr>
        <p:spPr bwMode="auto">
          <a:xfrm rot="5400000" flipH="1" flipV="1">
            <a:off x="8073504" y="2219942"/>
            <a:ext cx="660400" cy="571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4" name="直接连接符 173"/>
          <p:cNvCxnSpPr>
            <a:stCxn id="199" idx="3"/>
          </p:cNvCxnSpPr>
          <p:nvPr/>
        </p:nvCxnSpPr>
        <p:spPr bwMode="auto">
          <a:xfrm flipV="1">
            <a:off x="8239445" y="2378692"/>
            <a:ext cx="526209" cy="331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61" name="Object 190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497306" y="1442678"/>
            <a:ext cx="396558" cy="3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4" name="TextBox 228"/>
          <p:cNvSpPr txBox="1"/>
          <p:nvPr/>
        </p:nvSpPr>
        <p:spPr>
          <a:xfrm>
            <a:off x="5893881" y="1439044"/>
            <a:ext cx="130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防病毒过滤网关</a:t>
            </a:r>
          </a:p>
        </p:txBody>
      </p:sp>
      <p:pic>
        <p:nvPicPr>
          <p:cNvPr id="200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78429" y="5478192"/>
            <a:ext cx="350772" cy="560122"/>
          </a:xfrm>
          <a:prstGeom prst="rect">
            <a:avLst/>
          </a:prstGeom>
          <a:noFill/>
        </p:spPr>
      </p:pic>
      <p:pic>
        <p:nvPicPr>
          <p:cNvPr id="201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21009" y="5468756"/>
            <a:ext cx="350772" cy="560122"/>
          </a:xfrm>
          <a:prstGeom prst="rect">
            <a:avLst/>
          </a:prstGeom>
          <a:noFill/>
        </p:spPr>
      </p:pic>
      <p:pic>
        <p:nvPicPr>
          <p:cNvPr id="202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273487" y="5495627"/>
            <a:ext cx="350772" cy="560122"/>
          </a:xfrm>
          <a:prstGeom prst="rect">
            <a:avLst/>
          </a:prstGeom>
          <a:noFill/>
        </p:spPr>
      </p:pic>
      <p:cxnSp>
        <p:nvCxnSpPr>
          <p:cNvPr id="203" name="直接连接符 202"/>
          <p:cNvCxnSpPr>
            <a:endCxn id="98" idx="2"/>
          </p:cNvCxnSpPr>
          <p:nvPr/>
        </p:nvCxnSpPr>
        <p:spPr bwMode="auto">
          <a:xfrm flipV="1">
            <a:off x="2867119" y="3735356"/>
            <a:ext cx="2431023" cy="179183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5" name="直接连接符 204"/>
          <p:cNvCxnSpPr/>
          <p:nvPr/>
        </p:nvCxnSpPr>
        <p:spPr bwMode="auto">
          <a:xfrm flipV="1">
            <a:off x="2119234" y="3722139"/>
            <a:ext cx="2431023" cy="179183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8" name="直接连接符 207"/>
          <p:cNvCxnSpPr>
            <a:stCxn id="202" idx="0"/>
            <a:endCxn id="97" idx="2"/>
          </p:cNvCxnSpPr>
          <p:nvPr/>
        </p:nvCxnSpPr>
        <p:spPr bwMode="auto">
          <a:xfrm flipV="1">
            <a:off x="3448873" y="3732247"/>
            <a:ext cx="1146362" cy="17633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9" name="TextBox 165"/>
          <p:cNvSpPr txBox="1"/>
          <p:nvPr/>
        </p:nvSpPr>
        <p:spPr>
          <a:xfrm>
            <a:off x="1204242" y="6059374"/>
            <a:ext cx="1054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启明星辰</a:t>
            </a:r>
            <a:r>
              <a:rPr lang="en-US" altLang="zh-CN" sz="1200" dirty="0"/>
              <a:t>IDS</a:t>
            </a:r>
            <a:endParaRPr lang="zh-CN" altLang="en-US" sz="1200" dirty="0"/>
          </a:p>
        </p:txBody>
      </p:sp>
      <p:sp>
        <p:nvSpPr>
          <p:cNvPr id="210" name="TextBox 165"/>
          <p:cNvSpPr txBox="1"/>
          <p:nvPr/>
        </p:nvSpPr>
        <p:spPr>
          <a:xfrm>
            <a:off x="2215676" y="6117596"/>
            <a:ext cx="1054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启明星辰网络审计</a:t>
            </a:r>
          </a:p>
        </p:txBody>
      </p:sp>
      <p:sp>
        <p:nvSpPr>
          <p:cNvPr id="212" name="TextBox 165"/>
          <p:cNvSpPr txBox="1"/>
          <p:nvPr/>
        </p:nvSpPr>
        <p:spPr>
          <a:xfrm>
            <a:off x="3069670" y="6159136"/>
            <a:ext cx="1054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启明星辰天镜漏扫</a:t>
            </a:r>
          </a:p>
        </p:txBody>
      </p:sp>
      <p:pic>
        <p:nvPicPr>
          <p:cNvPr id="211" name="Picture 459" descr="图片23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884160" y="3939771"/>
            <a:ext cx="422469" cy="445328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213" name="矩形 212"/>
          <p:cNvSpPr/>
          <p:nvPr/>
        </p:nvSpPr>
        <p:spPr bwMode="auto">
          <a:xfrm>
            <a:off x="9853420" y="3636323"/>
            <a:ext cx="2338169" cy="17951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215" name="直接连接符 214"/>
          <p:cNvCxnSpPr>
            <a:stCxn id="98" idx="3"/>
          </p:cNvCxnSpPr>
          <p:nvPr/>
        </p:nvCxnSpPr>
        <p:spPr bwMode="auto">
          <a:xfrm>
            <a:off x="5534327" y="3490250"/>
            <a:ext cx="5488177" cy="5749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16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744420" y="3938213"/>
            <a:ext cx="252455" cy="403127"/>
          </a:xfrm>
          <a:prstGeom prst="rect">
            <a:avLst/>
          </a:prstGeom>
          <a:noFill/>
        </p:spPr>
      </p:pic>
      <p:pic>
        <p:nvPicPr>
          <p:cNvPr id="217" name="Picture 1939" descr="图片68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756215" y="4668956"/>
            <a:ext cx="252455" cy="403127"/>
          </a:xfrm>
          <a:prstGeom prst="rect">
            <a:avLst/>
          </a:prstGeom>
          <a:noFill/>
        </p:spPr>
      </p:pic>
      <p:sp>
        <p:nvSpPr>
          <p:cNvPr id="220" name="TextBox 151"/>
          <p:cNvSpPr txBox="1"/>
          <p:nvPr/>
        </p:nvSpPr>
        <p:spPr>
          <a:xfrm>
            <a:off x="10286193" y="4431744"/>
            <a:ext cx="1037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b="1" dirty="0"/>
              <a:t>DMZ</a:t>
            </a:r>
            <a:r>
              <a:rPr lang="zh-CN" altLang="en-US" sz="1200" b="1" dirty="0"/>
              <a:t>区</a:t>
            </a:r>
            <a:endParaRPr lang="en-US" altLang="zh-CN" sz="1200" b="1" dirty="0"/>
          </a:p>
        </p:txBody>
      </p:sp>
      <p:cxnSp>
        <p:nvCxnSpPr>
          <p:cNvPr id="221" name="直接连接符 220"/>
          <p:cNvCxnSpPr/>
          <p:nvPr/>
        </p:nvCxnSpPr>
        <p:spPr bwMode="auto">
          <a:xfrm>
            <a:off x="11115188" y="3990871"/>
            <a:ext cx="728570" cy="1421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2" name="直接连接符 221"/>
          <p:cNvCxnSpPr/>
          <p:nvPr/>
        </p:nvCxnSpPr>
        <p:spPr bwMode="auto">
          <a:xfrm>
            <a:off x="11145363" y="4411007"/>
            <a:ext cx="599057" cy="4405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14" name="Picture 465" descr="图片15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184092" y="3807077"/>
            <a:ext cx="355536" cy="367588"/>
          </a:xfrm>
          <a:prstGeom prst="rect">
            <a:avLst/>
          </a:prstGeom>
          <a:noFill/>
        </p:spPr>
      </p:pic>
      <p:pic>
        <p:nvPicPr>
          <p:cNvPr id="223" name="Picture 11" descr="IPS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605839" y="1656623"/>
            <a:ext cx="684037" cy="684037"/>
          </a:xfrm>
          <a:prstGeom prst="rect">
            <a:avLst/>
          </a:prstGeom>
        </p:spPr>
      </p:pic>
      <p:pic>
        <p:nvPicPr>
          <p:cNvPr id="224" name="Picture 11" descr="IPS.png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309657" y="2254591"/>
            <a:ext cx="1097039" cy="1097039"/>
          </a:xfrm>
          <a:prstGeom prst="rect">
            <a:avLst/>
          </a:prstGeom>
        </p:spPr>
      </p:pic>
      <p:cxnSp>
        <p:nvCxnSpPr>
          <p:cNvPr id="5" name="直接连接符 4"/>
          <p:cNvCxnSpPr>
            <a:stCxn id="3115" idx="2"/>
            <a:endCxn id="135" idx="0"/>
          </p:cNvCxnSpPr>
          <p:nvPr/>
        </p:nvCxnSpPr>
        <p:spPr bwMode="auto">
          <a:xfrm>
            <a:off x="4291951" y="1276728"/>
            <a:ext cx="1189" cy="1566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/>
          <p:cNvCxnSpPr>
            <a:stCxn id="3119" idx="2"/>
            <a:endCxn id="161" idx="0"/>
          </p:cNvCxnSpPr>
          <p:nvPr/>
        </p:nvCxnSpPr>
        <p:spPr bwMode="auto">
          <a:xfrm>
            <a:off x="5691687" y="1321644"/>
            <a:ext cx="3898" cy="12103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5" name="TextBox 228"/>
          <p:cNvSpPr txBox="1"/>
          <p:nvPr/>
        </p:nvSpPr>
        <p:spPr>
          <a:xfrm>
            <a:off x="3449644" y="1982862"/>
            <a:ext cx="1196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入侵防御系统</a:t>
            </a:r>
          </a:p>
        </p:txBody>
      </p:sp>
      <p:sp>
        <p:nvSpPr>
          <p:cNvPr id="226" name="TextBox 228"/>
          <p:cNvSpPr txBox="1"/>
          <p:nvPr/>
        </p:nvSpPr>
        <p:spPr>
          <a:xfrm>
            <a:off x="6274510" y="2211389"/>
            <a:ext cx="1518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入侵防御系统</a:t>
            </a:r>
          </a:p>
        </p:txBody>
      </p:sp>
      <p:pic>
        <p:nvPicPr>
          <p:cNvPr id="227" name="图片 226" descr="5.png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473429" y="3128812"/>
            <a:ext cx="582703" cy="707428"/>
          </a:xfrm>
          <a:prstGeom prst="rect">
            <a:avLst/>
          </a:prstGeom>
        </p:spPr>
      </p:pic>
      <p:pic>
        <p:nvPicPr>
          <p:cNvPr id="228" name="图片 227" descr="9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0610004" y="392509"/>
            <a:ext cx="525357" cy="449578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1385809" y="3925500"/>
            <a:ext cx="686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堡垒机</a:t>
            </a:r>
          </a:p>
        </p:txBody>
      </p:sp>
      <p:sp>
        <p:nvSpPr>
          <p:cNvPr id="230" name="TextBox 228"/>
          <p:cNvSpPr txBox="1"/>
          <p:nvPr/>
        </p:nvSpPr>
        <p:spPr>
          <a:xfrm>
            <a:off x="9906346" y="901227"/>
            <a:ext cx="19643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内网风险管理与审计系统</a:t>
            </a:r>
          </a:p>
        </p:txBody>
      </p:sp>
      <p:pic>
        <p:nvPicPr>
          <p:cNvPr id="231" name="图片 230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384" y="2201676"/>
            <a:ext cx="726149" cy="724218"/>
          </a:xfrm>
          <a:prstGeom prst="rect">
            <a:avLst/>
          </a:prstGeom>
        </p:spPr>
      </p:pic>
      <p:sp>
        <p:nvSpPr>
          <p:cNvPr id="232" name="TextBox 228"/>
          <p:cNvSpPr txBox="1"/>
          <p:nvPr/>
        </p:nvSpPr>
        <p:spPr>
          <a:xfrm>
            <a:off x="3309128" y="2431321"/>
            <a:ext cx="1420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上网行为管理系统</a:t>
            </a:r>
          </a:p>
        </p:txBody>
      </p:sp>
      <p:cxnSp>
        <p:nvCxnSpPr>
          <p:cNvPr id="8" name="直接连接符 7"/>
          <p:cNvCxnSpPr>
            <a:stCxn id="228" idx="2"/>
            <a:endCxn id="148" idx="0"/>
          </p:cNvCxnSpPr>
          <p:nvPr/>
        </p:nvCxnSpPr>
        <p:spPr bwMode="auto">
          <a:xfrm flipH="1">
            <a:off x="9638505" y="842087"/>
            <a:ext cx="1234178" cy="107630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直接连接符 16"/>
          <p:cNvCxnSpPr>
            <a:stCxn id="135" idx="2"/>
          </p:cNvCxnSpPr>
          <p:nvPr/>
        </p:nvCxnSpPr>
        <p:spPr bwMode="auto">
          <a:xfrm>
            <a:off x="4293140" y="1762437"/>
            <a:ext cx="490744" cy="2576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接连接符 18"/>
          <p:cNvCxnSpPr>
            <a:stCxn id="161" idx="2"/>
          </p:cNvCxnSpPr>
          <p:nvPr/>
        </p:nvCxnSpPr>
        <p:spPr bwMode="auto">
          <a:xfrm flipH="1">
            <a:off x="5148219" y="1744315"/>
            <a:ext cx="547366" cy="2833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接连接符 39"/>
          <p:cNvCxnSpPr/>
          <p:nvPr/>
        </p:nvCxnSpPr>
        <p:spPr bwMode="auto">
          <a:xfrm flipV="1">
            <a:off x="5061957" y="2144649"/>
            <a:ext cx="0" cy="2951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直接连接符 41"/>
          <p:cNvCxnSpPr/>
          <p:nvPr/>
        </p:nvCxnSpPr>
        <p:spPr bwMode="auto">
          <a:xfrm flipH="1" flipV="1">
            <a:off x="4888113" y="2154214"/>
            <a:ext cx="1388" cy="2855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直接连接符 51"/>
          <p:cNvCxnSpPr/>
          <p:nvPr/>
        </p:nvCxnSpPr>
        <p:spPr bwMode="auto">
          <a:xfrm flipH="1" flipV="1">
            <a:off x="4894134" y="2727959"/>
            <a:ext cx="1" cy="23922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直接连接符 53"/>
          <p:cNvCxnSpPr/>
          <p:nvPr/>
        </p:nvCxnSpPr>
        <p:spPr bwMode="auto">
          <a:xfrm flipV="1">
            <a:off x="5061957" y="2734127"/>
            <a:ext cx="0" cy="233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" name="直接连接符 2"/>
          <p:cNvCxnSpPr>
            <a:stCxn id="227" idx="3"/>
            <a:endCxn id="97" idx="1"/>
          </p:cNvCxnSpPr>
          <p:nvPr/>
        </p:nvCxnSpPr>
        <p:spPr bwMode="auto">
          <a:xfrm>
            <a:off x="2056132" y="3482526"/>
            <a:ext cx="2302918" cy="46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接连接符 3"/>
          <p:cNvCxnSpPr>
            <a:stCxn id="192" idx="2"/>
          </p:cNvCxnSpPr>
          <p:nvPr/>
        </p:nvCxnSpPr>
        <p:spPr bwMode="auto">
          <a:xfrm flipV="1">
            <a:off x="4491142" y="2644886"/>
            <a:ext cx="2131600" cy="6583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/>
          <p:cNvCxnSpPr/>
          <p:nvPr/>
        </p:nvCxnSpPr>
        <p:spPr bwMode="auto">
          <a:xfrm flipV="1">
            <a:off x="4754790" y="2741257"/>
            <a:ext cx="1878387" cy="5791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/>
          <p:cNvCxnSpPr>
            <a:stCxn id="193" idx="2"/>
          </p:cNvCxnSpPr>
          <p:nvPr/>
        </p:nvCxnSpPr>
        <p:spPr bwMode="auto">
          <a:xfrm flipV="1">
            <a:off x="5315346" y="2875387"/>
            <a:ext cx="1291539" cy="43095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 flipV="1">
            <a:off x="5510607" y="2956912"/>
            <a:ext cx="1125182" cy="39471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直接连接符 17"/>
          <p:cNvCxnSpPr/>
          <p:nvPr/>
        </p:nvCxnSpPr>
        <p:spPr bwMode="auto">
          <a:xfrm flipV="1">
            <a:off x="7005193" y="2296445"/>
            <a:ext cx="932400" cy="24316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/>
          <p:cNvCxnSpPr>
            <a:endCxn id="199" idx="1"/>
          </p:cNvCxnSpPr>
          <p:nvPr/>
        </p:nvCxnSpPr>
        <p:spPr bwMode="auto">
          <a:xfrm flipV="1">
            <a:off x="7145511" y="2411836"/>
            <a:ext cx="738398" cy="2043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直接连接符 30"/>
          <p:cNvCxnSpPr/>
          <p:nvPr/>
        </p:nvCxnSpPr>
        <p:spPr bwMode="auto">
          <a:xfrm>
            <a:off x="7145511" y="2727776"/>
            <a:ext cx="763798" cy="1197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直接连接符 32"/>
          <p:cNvCxnSpPr>
            <a:endCxn id="158" idx="1"/>
          </p:cNvCxnSpPr>
          <p:nvPr/>
        </p:nvCxnSpPr>
        <p:spPr bwMode="auto">
          <a:xfrm>
            <a:off x="7163821" y="2906731"/>
            <a:ext cx="745488" cy="766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3" name="Picture 509" descr="防火墙02">
            <a:extLst>
              <a:ext uri="{FF2B5EF4-FFF2-40B4-BE49-F238E27FC236}">
                <a16:creationId xmlns:a16="http://schemas.microsoft.com/office/drawing/2014/main" id="{4D44117E-4ED8-4095-8E5C-24EB5C9A7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65722" y="4951254"/>
            <a:ext cx="419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4" name="Picture 509" descr="防火墙02">
            <a:extLst>
              <a:ext uri="{FF2B5EF4-FFF2-40B4-BE49-F238E27FC236}">
                <a16:creationId xmlns:a16="http://schemas.microsoft.com/office/drawing/2014/main" id="{9C993BFD-A4AF-49E6-A1B0-11059D59B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67594" y="4782979"/>
            <a:ext cx="419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34"/>
          <p:cNvSpPr>
            <a:spLocks noChangeShapeType="1"/>
          </p:cNvSpPr>
          <p:nvPr/>
        </p:nvSpPr>
        <p:spPr bwMode="auto">
          <a:xfrm>
            <a:off x="4583113" y="1311675"/>
            <a:ext cx="0" cy="1366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Line 35"/>
          <p:cNvSpPr>
            <a:spLocks noChangeShapeType="1"/>
          </p:cNvSpPr>
          <p:nvPr/>
        </p:nvSpPr>
        <p:spPr bwMode="auto">
          <a:xfrm>
            <a:off x="8401050" y="123865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Text Box 241"/>
          <p:cNvSpPr txBox="1">
            <a:spLocks noChangeArrowheads="1"/>
          </p:cNvSpPr>
          <p:nvPr/>
        </p:nvSpPr>
        <p:spPr bwMode="auto">
          <a:xfrm>
            <a:off x="3551738" y="101050"/>
            <a:ext cx="56720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贵州中烟工业公司网络</a:t>
            </a:r>
            <a:r>
              <a:rPr lang="en-US" altLang="zh-CN" sz="2400" b="1" dirty="0"/>
              <a:t>-</a:t>
            </a:r>
            <a:r>
              <a:rPr lang="zh-CN" altLang="en-US" sz="2000" b="1" dirty="0"/>
              <a:t>互联网接入区</a:t>
            </a:r>
          </a:p>
        </p:txBody>
      </p:sp>
      <p:sp>
        <p:nvSpPr>
          <p:cNvPr id="6149" name="Text Box 122"/>
          <p:cNvSpPr txBox="1">
            <a:spLocks noChangeArrowheads="1"/>
          </p:cNvSpPr>
          <p:nvPr/>
        </p:nvSpPr>
        <p:spPr bwMode="auto">
          <a:xfrm>
            <a:off x="5508626" y="6472082"/>
            <a:ext cx="2459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</a:rPr>
              <a:t>GZZY-S12708-A-B</a:t>
            </a:r>
          </a:p>
        </p:txBody>
      </p:sp>
      <p:sp>
        <p:nvSpPr>
          <p:cNvPr id="6153" name="Line 508"/>
          <p:cNvSpPr>
            <a:spLocks noChangeShapeType="1"/>
          </p:cNvSpPr>
          <p:nvPr/>
        </p:nvSpPr>
        <p:spPr bwMode="auto">
          <a:xfrm>
            <a:off x="4594606" y="2141578"/>
            <a:ext cx="33750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4" name="Line 66"/>
          <p:cNvSpPr>
            <a:spLocks noChangeShapeType="1"/>
          </p:cNvSpPr>
          <p:nvPr/>
        </p:nvSpPr>
        <p:spPr bwMode="auto">
          <a:xfrm>
            <a:off x="4568825" y="2043514"/>
            <a:ext cx="30163" cy="2163859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7" name="Text Box 185"/>
          <p:cNvSpPr txBox="1">
            <a:spLocks noChangeArrowheads="1"/>
          </p:cNvSpPr>
          <p:nvPr/>
        </p:nvSpPr>
        <p:spPr bwMode="auto">
          <a:xfrm>
            <a:off x="2940939" y="2557388"/>
            <a:ext cx="252914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</a:rPr>
              <a:t>G2/0/2</a:t>
            </a:r>
            <a:r>
              <a:rPr lang="en-US" altLang="zh-CN" sz="1200" dirty="0">
                <a:solidFill>
                  <a:srgbClr val="FF3300"/>
                </a:solidFill>
              </a:rPr>
              <a:t>:10.113.16.1/28</a:t>
            </a:r>
          </a:p>
        </p:txBody>
      </p:sp>
      <p:sp>
        <p:nvSpPr>
          <p:cNvPr id="6158" name="Text Box 185"/>
          <p:cNvSpPr txBox="1">
            <a:spLocks noChangeArrowheads="1"/>
          </p:cNvSpPr>
          <p:nvPr/>
        </p:nvSpPr>
        <p:spPr bwMode="auto">
          <a:xfrm>
            <a:off x="2921000" y="3370567"/>
            <a:ext cx="13303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10.113.16.2/29</a:t>
            </a:r>
          </a:p>
        </p:txBody>
      </p:sp>
      <p:sp>
        <p:nvSpPr>
          <p:cNvPr id="6161" name="Rectangle 22"/>
          <p:cNvSpPr>
            <a:spLocks noChangeArrowheads="1"/>
          </p:cNvSpPr>
          <p:nvPr/>
        </p:nvSpPr>
        <p:spPr bwMode="auto">
          <a:xfrm>
            <a:off x="2296444" y="1956912"/>
            <a:ext cx="18390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</a:rPr>
              <a:t>GZZY-NE20E-A</a:t>
            </a:r>
          </a:p>
        </p:txBody>
      </p:sp>
      <p:sp>
        <p:nvSpPr>
          <p:cNvPr id="6162" name="Rectangle 23"/>
          <p:cNvSpPr>
            <a:spLocks noChangeArrowheads="1"/>
          </p:cNvSpPr>
          <p:nvPr/>
        </p:nvSpPr>
        <p:spPr bwMode="auto">
          <a:xfrm>
            <a:off x="8813801" y="1882061"/>
            <a:ext cx="19159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</a:rPr>
              <a:t>GZZY-NE20E--B</a:t>
            </a:r>
          </a:p>
        </p:txBody>
      </p:sp>
      <p:sp>
        <p:nvSpPr>
          <p:cNvPr id="6163" name="Line 66"/>
          <p:cNvSpPr>
            <a:spLocks noChangeShapeType="1"/>
          </p:cNvSpPr>
          <p:nvPr/>
        </p:nvSpPr>
        <p:spPr bwMode="auto">
          <a:xfrm>
            <a:off x="8401049" y="2103836"/>
            <a:ext cx="26989" cy="109696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66" name="Picture 534" descr="云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388" y="735412"/>
            <a:ext cx="14414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67" name="Text Box 531"/>
          <p:cNvSpPr txBox="1">
            <a:spLocks noChangeArrowheads="1"/>
          </p:cNvSpPr>
          <p:nvPr/>
        </p:nvSpPr>
        <p:spPr bwMode="auto">
          <a:xfrm>
            <a:off x="3790951" y="951311"/>
            <a:ext cx="14398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200"/>
              <a:t>电信线路</a:t>
            </a:r>
          </a:p>
        </p:txBody>
      </p:sp>
      <p:sp>
        <p:nvSpPr>
          <p:cNvPr id="6168" name="Freeform 533"/>
          <p:cNvSpPr>
            <a:spLocks/>
          </p:cNvSpPr>
          <p:nvPr/>
        </p:nvSpPr>
        <p:spPr bwMode="auto">
          <a:xfrm>
            <a:off x="7750176" y="662387"/>
            <a:ext cx="1082675" cy="657225"/>
          </a:xfrm>
          <a:custGeom>
            <a:avLst/>
            <a:gdLst>
              <a:gd name="T0" fmla="*/ 2147483646 w 2305"/>
              <a:gd name="T1" fmla="*/ 2147483646 h 1492"/>
              <a:gd name="T2" fmla="*/ 2147483646 w 2305"/>
              <a:gd name="T3" fmla="*/ 2147483646 h 1492"/>
              <a:gd name="T4" fmla="*/ 2147483646 w 2305"/>
              <a:gd name="T5" fmla="*/ 2147483646 h 1492"/>
              <a:gd name="T6" fmla="*/ 2147483646 w 2305"/>
              <a:gd name="T7" fmla="*/ 2147483646 h 1492"/>
              <a:gd name="T8" fmla="*/ 2147483646 w 2305"/>
              <a:gd name="T9" fmla="*/ 2147483646 h 1492"/>
              <a:gd name="T10" fmla="*/ 2147483646 w 2305"/>
              <a:gd name="T11" fmla="*/ 2147483646 h 1492"/>
              <a:gd name="T12" fmla="*/ 2147483646 w 2305"/>
              <a:gd name="T13" fmla="*/ 2147483646 h 1492"/>
              <a:gd name="T14" fmla="*/ 2147483646 w 2305"/>
              <a:gd name="T15" fmla="*/ 2147483646 h 1492"/>
              <a:gd name="T16" fmla="*/ 2147483646 w 2305"/>
              <a:gd name="T17" fmla="*/ 2147483646 h 1492"/>
              <a:gd name="T18" fmla="*/ 2147483646 w 2305"/>
              <a:gd name="T19" fmla="*/ 2147483646 h 1492"/>
              <a:gd name="T20" fmla="*/ 2147483646 w 2305"/>
              <a:gd name="T21" fmla="*/ 2147483646 h 1492"/>
              <a:gd name="T22" fmla="*/ 2147483646 w 2305"/>
              <a:gd name="T23" fmla="*/ 2147483646 h 1492"/>
              <a:gd name="T24" fmla="*/ 2147483646 w 2305"/>
              <a:gd name="T25" fmla="*/ 2147483646 h 1492"/>
              <a:gd name="T26" fmla="*/ 2147483646 w 2305"/>
              <a:gd name="T27" fmla="*/ 2147483646 h 1492"/>
              <a:gd name="T28" fmla="*/ 2147483646 w 2305"/>
              <a:gd name="T29" fmla="*/ 2147483646 h 1492"/>
              <a:gd name="T30" fmla="*/ 2147483646 w 2305"/>
              <a:gd name="T31" fmla="*/ 2147483646 h 1492"/>
              <a:gd name="T32" fmla="*/ 2147483646 w 2305"/>
              <a:gd name="T33" fmla="*/ 2147483646 h 1492"/>
              <a:gd name="T34" fmla="*/ 2147483646 w 2305"/>
              <a:gd name="T35" fmla="*/ 2147483646 h 1492"/>
              <a:gd name="T36" fmla="*/ 2147483646 w 2305"/>
              <a:gd name="T37" fmla="*/ 2147483646 h 1492"/>
              <a:gd name="T38" fmla="*/ 2147483646 w 2305"/>
              <a:gd name="T39" fmla="*/ 2147483646 h 1492"/>
              <a:gd name="T40" fmla="*/ 2147483646 w 2305"/>
              <a:gd name="T41" fmla="*/ 2147483646 h 1492"/>
              <a:gd name="T42" fmla="*/ 2147483646 w 2305"/>
              <a:gd name="T43" fmla="*/ 2147483646 h 1492"/>
              <a:gd name="T44" fmla="*/ 2147483646 w 2305"/>
              <a:gd name="T45" fmla="*/ 2147483646 h 1492"/>
              <a:gd name="T46" fmla="*/ 2147483646 w 2305"/>
              <a:gd name="T47" fmla="*/ 2147483646 h 1492"/>
              <a:gd name="T48" fmla="*/ 2147483646 w 2305"/>
              <a:gd name="T49" fmla="*/ 2147483646 h 1492"/>
              <a:gd name="T50" fmla="*/ 2147483646 w 2305"/>
              <a:gd name="T51" fmla="*/ 2147483646 h 1492"/>
              <a:gd name="T52" fmla="*/ 2147483646 w 2305"/>
              <a:gd name="T53" fmla="*/ 2147483646 h 1492"/>
              <a:gd name="T54" fmla="*/ 2147483646 w 2305"/>
              <a:gd name="T55" fmla="*/ 2147483646 h 1492"/>
              <a:gd name="T56" fmla="*/ 2147483646 w 2305"/>
              <a:gd name="T57" fmla="*/ 2147483646 h 1492"/>
              <a:gd name="T58" fmla="*/ 2147483646 w 2305"/>
              <a:gd name="T59" fmla="*/ 2147483646 h 1492"/>
              <a:gd name="T60" fmla="*/ 2147483646 w 2305"/>
              <a:gd name="T61" fmla="*/ 2147483646 h 1492"/>
              <a:gd name="T62" fmla="*/ 2147483646 w 2305"/>
              <a:gd name="T63" fmla="*/ 2147483646 h 1492"/>
              <a:gd name="T64" fmla="*/ 2147483646 w 2305"/>
              <a:gd name="T65" fmla="*/ 2147483646 h 1492"/>
              <a:gd name="T66" fmla="*/ 2147483646 w 2305"/>
              <a:gd name="T67" fmla="*/ 2147483646 h 1492"/>
              <a:gd name="T68" fmla="*/ 2147483646 w 2305"/>
              <a:gd name="T69" fmla="*/ 2147483646 h 1492"/>
              <a:gd name="T70" fmla="*/ 2147483646 w 2305"/>
              <a:gd name="T71" fmla="*/ 2147483646 h 1492"/>
              <a:gd name="T72" fmla="*/ 2147483646 w 2305"/>
              <a:gd name="T73" fmla="*/ 2147483646 h 1492"/>
              <a:gd name="T74" fmla="*/ 2147483646 w 2305"/>
              <a:gd name="T75" fmla="*/ 2147483646 h 1492"/>
              <a:gd name="T76" fmla="*/ 2147483646 w 2305"/>
              <a:gd name="T77" fmla="*/ 2147483646 h 1492"/>
              <a:gd name="T78" fmla="*/ 2147483646 w 2305"/>
              <a:gd name="T79" fmla="*/ 2147483646 h 1492"/>
              <a:gd name="T80" fmla="*/ 2147483646 w 2305"/>
              <a:gd name="T81" fmla="*/ 2147483646 h 1492"/>
              <a:gd name="T82" fmla="*/ 2147483646 w 2305"/>
              <a:gd name="T83" fmla="*/ 2147483646 h 1492"/>
              <a:gd name="T84" fmla="*/ 2147483646 w 2305"/>
              <a:gd name="T85" fmla="*/ 2147483646 h 1492"/>
              <a:gd name="T86" fmla="*/ 2147483646 w 2305"/>
              <a:gd name="T87" fmla="*/ 2147483646 h 1492"/>
              <a:gd name="T88" fmla="*/ 2147483646 w 2305"/>
              <a:gd name="T89" fmla="*/ 2147483646 h 1492"/>
              <a:gd name="T90" fmla="*/ 2147483646 w 2305"/>
              <a:gd name="T91" fmla="*/ 2147483646 h 1492"/>
              <a:gd name="T92" fmla="*/ 2147483646 w 2305"/>
              <a:gd name="T93" fmla="*/ 2147483646 h 1492"/>
              <a:gd name="T94" fmla="*/ 2147483646 w 2305"/>
              <a:gd name="T95" fmla="*/ 2147483646 h 1492"/>
              <a:gd name="T96" fmla="*/ 2147483646 w 2305"/>
              <a:gd name="T97" fmla="*/ 2147483646 h 1492"/>
              <a:gd name="T98" fmla="*/ 2147483646 w 2305"/>
              <a:gd name="T99" fmla="*/ 2147483646 h 1492"/>
              <a:gd name="T100" fmla="*/ 2147483646 w 2305"/>
              <a:gd name="T101" fmla="*/ 2147483646 h 1492"/>
              <a:gd name="T102" fmla="*/ 2147483646 w 2305"/>
              <a:gd name="T103" fmla="*/ 2147483646 h 1492"/>
              <a:gd name="T104" fmla="*/ 0 w 2305"/>
              <a:gd name="T105" fmla="*/ 2147483646 h 1492"/>
              <a:gd name="T106" fmla="*/ 2147483646 w 2305"/>
              <a:gd name="T107" fmla="*/ 2147483646 h 1492"/>
              <a:gd name="T108" fmla="*/ 2147483646 w 2305"/>
              <a:gd name="T109" fmla="*/ 2147483646 h 1492"/>
              <a:gd name="T110" fmla="*/ 2147483646 w 2305"/>
              <a:gd name="T111" fmla="*/ 2147483646 h 1492"/>
              <a:gd name="T112" fmla="*/ 2147483646 w 2305"/>
              <a:gd name="T113" fmla="*/ 2147483646 h 1492"/>
              <a:gd name="T114" fmla="*/ 2147483646 w 2305"/>
              <a:gd name="T115" fmla="*/ 2147483646 h 1492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2305"/>
              <a:gd name="T175" fmla="*/ 0 h 1492"/>
              <a:gd name="T176" fmla="*/ 2305 w 2305"/>
              <a:gd name="T177" fmla="*/ 1492 h 1492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2305" h="1492">
                <a:moveTo>
                  <a:pt x="366" y="354"/>
                </a:moveTo>
                <a:lnTo>
                  <a:pt x="384" y="313"/>
                </a:lnTo>
                <a:lnTo>
                  <a:pt x="414" y="271"/>
                </a:lnTo>
                <a:lnTo>
                  <a:pt x="457" y="237"/>
                </a:lnTo>
                <a:lnTo>
                  <a:pt x="517" y="209"/>
                </a:lnTo>
                <a:lnTo>
                  <a:pt x="563" y="194"/>
                </a:lnTo>
                <a:lnTo>
                  <a:pt x="622" y="180"/>
                </a:lnTo>
                <a:lnTo>
                  <a:pt x="711" y="173"/>
                </a:lnTo>
                <a:lnTo>
                  <a:pt x="797" y="180"/>
                </a:lnTo>
                <a:lnTo>
                  <a:pt x="878" y="197"/>
                </a:lnTo>
                <a:lnTo>
                  <a:pt x="937" y="218"/>
                </a:lnTo>
                <a:lnTo>
                  <a:pt x="972" y="149"/>
                </a:lnTo>
                <a:lnTo>
                  <a:pt x="1018" y="97"/>
                </a:lnTo>
                <a:lnTo>
                  <a:pt x="1077" y="54"/>
                </a:lnTo>
                <a:lnTo>
                  <a:pt x="1158" y="26"/>
                </a:lnTo>
                <a:lnTo>
                  <a:pt x="1256" y="2"/>
                </a:lnTo>
                <a:lnTo>
                  <a:pt x="1352" y="0"/>
                </a:lnTo>
                <a:lnTo>
                  <a:pt x="1439" y="11"/>
                </a:lnTo>
                <a:lnTo>
                  <a:pt x="1536" y="38"/>
                </a:lnTo>
                <a:lnTo>
                  <a:pt x="1608" y="85"/>
                </a:lnTo>
                <a:lnTo>
                  <a:pt x="1662" y="130"/>
                </a:lnTo>
                <a:lnTo>
                  <a:pt x="1694" y="175"/>
                </a:lnTo>
                <a:lnTo>
                  <a:pt x="1703" y="233"/>
                </a:lnTo>
                <a:lnTo>
                  <a:pt x="1770" y="214"/>
                </a:lnTo>
                <a:lnTo>
                  <a:pt x="1851" y="221"/>
                </a:lnTo>
                <a:lnTo>
                  <a:pt x="1915" y="237"/>
                </a:lnTo>
                <a:lnTo>
                  <a:pt x="1973" y="278"/>
                </a:lnTo>
                <a:lnTo>
                  <a:pt x="2015" y="330"/>
                </a:lnTo>
                <a:lnTo>
                  <a:pt x="2032" y="388"/>
                </a:lnTo>
                <a:lnTo>
                  <a:pt x="2029" y="429"/>
                </a:lnTo>
                <a:lnTo>
                  <a:pt x="2067" y="426"/>
                </a:lnTo>
                <a:lnTo>
                  <a:pt x="2115" y="436"/>
                </a:lnTo>
                <a:lnTo>
                  <a:pt x="2163" y="455"/>
                </a:lnTo>
                <a:lnTo>
                  <a:pt x="2201" y="479"/>
                </a:lnTo>
                <a:lnTo>
                  <a:pt x="2225" y="498"/>
                </a:lnTo>
                <a:lnTo>
                  <a:pt x="2250" y="524"/>
                </a:lnTo>
                <a:lnTo>
                  <a:pt x="2274" y="557"/>
                </a:lnTo>
                <a:lnTo>
                  <a:pt x="2288" y="598"/>
                </a:lnTo>
                <a:lnTo>
                  <a:pt x="2290" y="626"/>
                </a:lnTo>
                <a:lnTo>
                  <a:pt x="2282" y="659"/>
                </a:lnTo>
                <a:lnTo>
                  <a:pt x="2265" y="700"/>
                </a:lnTo>
                <a:lnTo>
                  <a:pt x="2288" y="740"/>
                </a:lnTo>
                <a:lnTo>
                  <a:pt x="2295" y="778"/>
                </a:lnTo>
                <a:lnTo>
                  <a:pt x="2300" y="819"/>
                </a:lnTo>
                <a:lnTo>
                  <a:pt x="2290" y="871"/>
                </a:lnTo>
                <a:lnTo>
                  <a:pt x="2282" y="900"/>
                </a:lnTo>
                <a:lnTo>
                  <a:pt x="2255" y="935"/>
                </a:lnTo>
                <a:lnTo>
                  <a:pt x="2290" y="988"/>
                </a:lnTo>
                <a:lnTo>
                  <a:pt x="2300" y="1018"/>
                </a:lnTo>
                <a:lnTo>
                  <a:pt x="2304" y="1066"/>
                </a:lnTo>
                <a:lnTo>
                  <a:pt x="2295" y="1111"/>
                </a:lnTo>
                <a:lnTo>
                  <a:pt x="2277" y="1162"/>
                </a:lnTo>
                <a:lnTo>
                  <a:pt x="2250" y="1198"/>
                </a:lnTo>
                <a:lnTo>
                  <a:pt x="2209" y="1234"/>
                </a:lnTo>
                <a:lnTo>
                  <a:pt x="2140" y="1267"/>
                </a:lnTo>
                <a:lnTo>
                  <a:pt x="2067" y="1279"/>
                </a:lnTo>
                <a:lnTo>
                  <a:pt x="2002" y="1269"/>
                </a:lnTo>
                <a:lnTo>
                  <a:pt x="1959" y="1250"/>
                </a:lnTo>
                <a:lnTo>
                  <a:pt x="1929" y="1286"/>
                </a:lnTo>
                <a:lnTo>
                  <a:pt x="1896" y="1315"/>
                </a:lnTo>
                <a:lnTo>
                  <a:pt x="1870" y="1334"/>
                </a:lnTo>
                <a:lnTo>
                  <a:pt x="1816" y="1357"/>
                </a:lnTo>
                <a:lnTo>
                  <a:pt x="1770" y="1374"/>
                </a:lnTo>
                <a:lnTo>
                  <a:pt x="1703" y="1386"/>
                </a:lnTo>
                <a:lnTo>
                  <a:pt x="1635" y="1383"/>
                </a:lnTo>
                <a:lnTo>
                  <a:pt x="1571" y="1367"/>
                </a:lnTo>
                <a:lnTo>
                  <a:pt x="1512" y="1338"/>
                </a:lnTo>
                <a:lnTo>
                  <a:pt x="1477" y="1388"/>
                </a:lnTo>
                <a:lnTo>
                  <a:pt x="1444" y="1417"/>
                </a:lnTo>
                <a:lnTo>
                  <a:pt x="1404" y="1441"/>
                </a:lnTo>
                <a:lnTo>
                  <a:pt x="1355" y="1460"/>
                </a:lnTo>
                <a:lnTo>
                  <a:pt x="1301" y="1469"/>
                </a:lnTo>
                <a:lnTo>
                  <a:pt x="1252" y="1469"/>
                </a:lnTo>
                <a:lnTo>
                  <a:pt x="1204" y="1460"/>
                </a:lnTo>
                <a:lnTo>
                  <a:pt x="1145" y="1433"/>
                </a:lnTo>
                <a:lnTo>
                  <a:pt x="1110" y="1410"/>
                </a:lnTo>
                <a:lnTo>
                  <a:pt x="1077" y="1441"/>
                </a:lnTo>
                <a:lnTo>
                  <a:pt x="1045" y="1460"/>
                </a:lnTo>
                <a:lnTo>
                  <a:pt x="1002" y="1476"/>
                </a:lnTo>
                <a:lnTo>
                  <a:pt x="943" y="1491"/>
                </a:lnTo>
                <a:lnTo>
                  <a:pt x="883" y="1486"/>
                </a:lnTo>
                <a:lnTo>
                  <a:pt x="819" y="1471"/>
                </a:lnTo>
                <a:lnTo>
                  <a:pt x="770" y="1448"/>
                </a:lnTo>
                <a:lnTo>
                  <a:pt x="725" y="1407"/>
                </a:lnTo>
                <a:lnTo>
                  <a:pt x="697" y="1367"/>
                </a:lnTo>
                <a:lnTo>
                  <a:pt x="649" y="1381"/>
                </a:lnTo>
                <a:lnTo>
                  <a:pt x="595" y="1391"/>
                </a:lnTo>
                <a:lnTo>
                  <a:pt x="530" y="1388"/>
                </a:lnTo>
                <a:lnTo>
                  <a:pt x="474" y="1369"/>
                </a:lnTo>
                <a:lnTo>
                  <a:pt x="428" y="1343"/>
                </a:lnTo>
                <a:lnTo>
                  <a:pt x="393" y="1315"/>
                </a:lnTo>
                <a:lnTo>
                  <a:pt x="363" y="1274"/>
                </a:lnTo>
                <a:lnTo>
                  <a:pt x="355" y="1234"/>
                </a:lnTo>
                <a:lnTo>
                  <a:pt x="325" y="1243"/>
                </a:lnTo>
                <a:lnTo>
                  <a:pt x="271" y="1246"/>
                </a:lnTo>
                <a:lnTo>
                  <a:pt x="212" y="1234"/>
                </a:lnTo>
                <a:lnTo>
                  <a:pt x="153" y="1205"/>
                </a:lnTo>
                <a:lnTo>
                  <a:pt x="113" y="1167"/>
                </a:lnTo>
                <a:lnTo>
                  <a:pt x="78" y="1118"/>
                </a:lnTo>
                <a:lnTo>
                  <a:pt x="59" y="1066"/>
                </a:lnTo>
                <a:lnTo>
                  <a:pt x="50" y="995"/>
                </a:lnTo>
                <a:lnTo>
                  <a:pt x="53" y="947"/>
                </a:lnTo>
                <a:lnTo>
                  <a:pt x="72" y="876"/>
                </a:lnTo>
                <a:lnTo>
                  <a:pt x="32" y="835"/>
                </a:lnTo>
                <a:lnTo>
                  <a:pt x="10" y="783"/>
                </a:lnTo>
                <a:lnTo>
                  <a:pt x="0" y="728"/>
                </a:lnTo>
                <a:lnTo>
                  <a:pt x="0" y="669"/>
                </a:lnTo>
                <a:lnTo>
                  <a:pt x="13" y="607"/>
                </a:lnTo>
                <a:lnTo>
                  <a:pt x="40" y="560"/>
                </a:lnTo>
                <a:lnTo>
                  <a:pt x="86" y="510"/>
                </a:lnTo>
                <a:lnTo>
                  <a:pt x="134" y="472"/>
                </a:lnTo>
                <a:lnTo>
                  <a:pt x="191" y="436"/>
                </a:lnTo>
                <a:lnTo>
                  <a:pt x="264" y="412"/>
                </a:lnTo>
                <a:lnTo>
                  <a:pt x="330" y="398"/>
                </a:lnTo>
                <a:lnTo>
                  <a:pt x="363" y="391"/>
                </a:lnTo>
                <a:lnTo>
                  <a:pt x="366" y="354"/>
                </a:lnTo>
              </a:path>
            </a:pathLst>
          </a:custGeom>
          <a:gradFill rotWithShape="1">
            <a:gsLst>
              <a:gs pos="0">
                <a:srgbClr val="679ACD">
                  <a:alpha val="71001"/>
                </a:srgbClr>
              </a:gs>
              <a:gs pos="100000">
                <a:srgbClr val="E5EBF7"/>
              </a:gs>
            </a:gsLst>
            <a:lin ang="2700000" scaled="1"/>
          </a:gradFill>
          <a:ln>
            <a:noFill/>
          </a:ln>
          <a:effectLst>
            <a:prstShdw prst="shdw17" dist="17961" dir="2700000">
              <a:srgbClr val="3E5C7B"/>
            </a:prstShdw>
          </a:effectLst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69" name="Text Box 536"/>
          <p:cNvSpPr txBox="1">
            <a:spLocks noChangeArrowheads="1"/>
          </p:cNvSpPr>
          <p:nvPr/>
        </p:nvSpPr>
        <p:spPr bwMode="auto">
          <a:xfrm>
            <a:off x="7680325" y="902100"/>
            <a:ext cx="12969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200"/>
              <a:t>联通线路</a:t>
            </a:r>
          </a:p>
        </p:txBody>
      </p:sp>
      <p:sp>
        <p:nvSpPr>
          <p:cNvPr id="6170" name="Text Box 36"/>
          <p:cNvSpPr txBox="1">
            <a:spLocks noChangeArrowheads="1"/>
          </p:cNvSpPr>
          <p:nvPr/>
        </p:nvSpPr>
        <p:spPr bwMode="auto">
          <a:xfrm>
            <a:off x="3667126" y="1546564"/>
            <a:ext cx="34904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</a:rPr>
              <a:t>G2/0/0:</a:t>
            </a:r>
            <a:r>
              <a:rPr lang="en-US" altLang="zh-CN" sz="1200" b="1" dirty="0">
                <a:solidFill>
                  <a:srgbClr val="FF0000"/>
                </a:solidFill>
              </a:rPr>
              <a:t>58.42.251.82,83,84/26</a:t>
            </a:r>
          </a:p>
        </p:txBody>
      </p:sp>
      <p:sp>
        <p:nvSpPr>
          <p:cNvPr id="6171" name="Text Box 37"/>
          <p:cNvSpPr txBox="1">
            <a:spLocks noChangeArrowheads="1"/>
          </p:cNvSpPr>
          <p:nvPr/>
        </p:nvSpPr>
        <p:spPr bwMode="auto">
          <a:xfrm>
            <a:off x="7890991" y="1514475"/>
            <a:ext cx="247318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>
                <a:solidFill>
                  <a:srgbClr val="0000FF"/>
                </a:solidFill>
              </a:rPr>
              <a:t>G20/0:</a:t>
            </a:r>
            <a:r>
              <a:rPr lang="en-US" altLang="zh-CN" sz="1000" b="1" dirty="0">
                <a:solidFill>
                  <a:srgbClr val="FF0000"/>
                </a:solidFill>
              </a:rPr>
              <a:t>221.13.22.106,107,110/29</a:t>
            </a:r>
          </a:p>
        </p:txBody>
      </p:sp>
      <p:sp>
        <p:nvSpPr>
          <p:cNvPr id="6173" name="Rectangle 43"/>
          <p:cNvSpPr>
            <a:spLocks noChangeArrowheads="1"/>
          </p:cNvSpPr>
          <p:nvPr/>
        </p:nvSpPr>
        <p:spPr bwMode="auto">
          <a:xfrm>
            <a:off x="7999816" y="2552324"/>
            <a:ext cx="19442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</a:rPr>
              <a:t>G2/0/2:</a:t>
            </a:r>
            <a:r>
              <a:rPr lang="en-US" altLang="zh-CN" sz="1200" dirty="0">
                <a:solidFill>
                  <a:srgbClr val="FF0000"/>
                </a:solidFill>
              </a:rPr>
              <a:t>10.113.16.17/28</a:t>
            </a:r>
          </a:p>
        </p:txBody>
      </p:sp>
      <p:sp>
        <p:nvSpPr>
          <p:cNvPr id="6174" name="Rectangle 44"/>
          <p:cNvSpPr>
            <a:spLocks noChangeArrowheads="1"/>
          </p:cNvSpPr>
          <p:nvPr/>
        </p:nvSpPr>
        <p:spPr bwMode="auto">
          <a:xfrm>
            <a:off x="4800600" y="1899050"/>
            <a:ext cx="17009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</a:rPr>
              <a:t>G2/0/1</a:t>
            </a:r>
            <a:r>
              <a:rPr lang="en-US" altLang="zh-CN" sz="1200" dirty="0">
                <a:solidFill>
                  <a:srgbClr val="FF0000"/>
                </a:solidFill>
              </a:rPr>
              <a:t>:10.113.4.17/29</a:t>
            </a:r>
          </a:p>
        </p:txBody>
      </p:sp>
      <p:sp>
        <p:nvSpPr>
          <p:cNvPr id="6175" name="Rectangle 45"/>
          <p:cNvSpPr>
            <a:spLocks noChangeArrowheads="1"/>
          </p:cNvSpPr>
          <p:nvPr/>
        </p:nvSpPr>
        <p:spPr bwMode="auto">
          <a:xfrm>
            <a:off x="6341374" y="1911749"/>
            <a:ext cx="170091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dirty="0">
                <a:solidFill>
                  <a:srgbClr val="0000FF"/>
                </a:solidFill>
              </a:rPr>
              <a:t>G2/0/1</a:t>
            </a:r>
            <a:r>
              <a:rPr lang="en-US" altLang="zh-CN" sz="1200" dirty="0">
                <a:solidFill>
                  <a:srgbClr val="FF0000"/>
                </a:solidFill>
              </a:rPr>
              <a:t>:10.113.4.18/29</a:t>
            </a:r>
          </a:p>
        </p:txBody>
      </p:sp>
      <p:sp>
        <p:nvSpPr>
          <p:cNvPr id="6180" name="Rectangle 52"/>
          <p:cNvSpPr>
            <a:spLocks noChangeArrowheads="1"/>
          </p:cNvSpPr>
          <p:nvPr/>
        </p:nvSpPr>
        <p:spPr bwMode="auto">
          <a:xfrm>
            <a:off x="6738145" y="5364702"/>
            <a:ext cx="28067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dirty="0"/>
              <a:t>GE 2/1/0/0(</a:t>
            </a:r>
            <a:r>
              <a:rPr lang="en-US" altLang="zh-CN" sz="1200" dirty="0">
                <a:solidFill>
                  <a:srgbClr val="FF0000"/>
                </a:solidFill>
              </a:rPr>
              <a:t>Vlan100): 10.113.16.30/28</a:t>
            </a:r>
          </a:p>
        </p:txBody>
      </p:sp>
      <p:sp>
        <p:nvSpPr>
          <p:cNvPr id="6181" name="Rectangle 53"/>
          <p:cNvSpPr>
            <a:spLocks noChangeArrowheads="1"/>
          </p:cNvSpPr>
          <p:nvPr/>
        </p:nvSpPr>
        <p:spPr bwMode="auto">
          <a:xfrm>
            <a:off x="3708400" y="5301531"/>
            <a:ext cx="30297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1200" dirty="0"/>
              <a:t>GE1/1/0/0</a:t>
            </a:r>
            <a:r>
              <a:rPr lang="en-US" altLang="zh-CN" sz="1200" dirty="0">
                <a:solidFill>
                  <a:srgbClr val="FF0000"/>
                </a:solidFill>
              </a:rPr>
              <a:t>(Vlan110):10.113.16.14/28</a:t>
            </a:r>
          </a:p>
        </p:txBody>
      </p:sp>
      <p:sp>
        <p:nvSpPr>
          <p:cNvPr id="6183" name="Rectangle 55"/>
          <p:cNvSpPr>
            <a:spLocks noChangeArrowheads="1"/>
          </p:cNvSpPr>
          <p:nvPr/>
        </p:nvSpPr>
        <p:spPr bwMode="auto">
          <a:xfrm>
            <a:off x="8401050" y="2965948"/>
            <a:ext cx="7024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Eth31 </a:t>
            </a:r>
          </a:p>
        </p:txBody>
      </p:sp>
      <p:sp>
        <p:nvSpPr>
          <p:cNvPr id="6184" name="Rectangle 56"/>
          <p:cNvSpPr>
            <a:spLocks noChangeArrowheads="1"/>
          </p:cNvSpPr>
          <p:nvPr/>
        </p:nvSpPr>
        <p:spPr bwMode="auto">
          <a:xfrm>
            <a:off x="8087577" y="3682699"/>
            <a:ext cx="7024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Eth30 </a:t>
            </a:r>
          </a:p>
        </p:txBody>
      </p:sp>
      <p:graphicFrame>
        <p:nvGraphicFramePr>
          <p:cNvPr id="618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543730"/>
              </p:ext>
            </p:extLst>
          </p:nvPr>
        </p:nvGraphicFramePr>
        <p:xfrm>
          <a:off x="4295775" y="4046937"/>
          <a:ext cx="50323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8" name="Visio" r:id="rId5" imgW="297790" imgH="443484" progId="Visio.Drawing.11">
                  <p:embed/>
                </p:oleObj>
              </mc:Choice>
              <mc:Fallback>
                <p:oleObj name="Visio" r:id="rId5" imgW="297790" imgH="443484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4046937"/>
                        <a:ext cx="503238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708688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88" name="Rectangle 60"/>
          <p:cNvSpPr>
            <a:spLocks noChangeArrowheads="1"/>
          </p:cNvSpPr>
          <p:nvPr/>
        </p:nvSpPr>
        <p:spPr bwMode="auto">
          <a:xfrm>
            <a:off x="4388795" y="3861146"/>
            <a:ext cx="6527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Eth10</a:t>
            </a:r>
          </a:p>
        </p:txBody>
      </p:sp>
      <p:sp>
        <p:nvSpPr>
          <p:cNvPr id="6192" name="Line 508"/>
          <p:cNvSpPr>
            <a:spLocks noChangeShapeType="1"/>
          </p:cNvSpPr>
          <p:nvPr/>
        </p:nvSpPr>
        <p:spPr bwMode="auto">
          <a:xfrm>
            <a:off x="2711451" y="4407299"/>
            <a:ext cx="15843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93" name="Line 508"/>
          <p:cNvSpPr>
            <a:spLocks noChangeShapeType="1"/>
          </p:cNvSpPr>
          <p:nvPr/>
        </p:nvSpPr>
        <p:spPr bwMode="auto">
          <a:xfrm flipV="1">
            <a:off x="2711450" y="4407299"/>
            <a:ext cx="0" cy="12239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94" name="Line 508"/>
          <p:cNvSpPr>
            <a:spLocks noChangeShapeType="1"/>
          </p:cNvSpPr>
          <p:nvPr/>
        </p:nvSpPr>
        <p:spPr bwMode="auto">
          <a:xfrm flipV="1">
            <a:off x="2711449" y="5628643"/>
            <a:ext cx="2952685" cy="261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95" name="Text Box 67"/>
          <p:cNvSpPr txBox="1">
            <a:spLocks noChangeArrowheads="1"/>
          </p:cNvSpPr>
          <p:nvPr/>
        </p:nvSpPr>
        <p:spPr bwMode="auto">
          <a:xfrm>
            <a:off x="4040544" y="5578579"/>
            <a:ext cx="20875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0000FF"/>
                </a:solidFill>
              </a:rPr>
              <a:t>GE 1/2/1/0 ( vlan 150)</a:t>
            </a:r>
          </a:p>
        </p:txBody>
      </p:sp>
      <p:sp>
        <p:nvSpPr>
          <p:cNvPr id="6196" name="Rectangle 68"/>
          <p:cNvSpPr>
            <a:spLocks noChangeArrowheads="1"/>
          </p:cNvSpPr>
          <p:nvPr/>
        </p:nvSpPr>
        <p:spPr bwMode="auto">
          <a:xfrm>
            <a:off x="8648700" y="3450831"/>
            <a:ext cx="1511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FF0000"/>
                </a:solidFill>
              </a:rPr>
              <a:t>10.113.16.18/29</a:t>
            </a:r>
          </a:p>
        </p:txBody>
      </p:sp>
      <p:pic>
        <p:nvPicPr>
          <p:cNvPr id="6197" name="Picture 87" descr="通用路由器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25" y="1887936"/>
            <a:ext cx="84455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8" name="Picture 88" descr="通用路由器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664" y="1743474"/>
            <a:ext cx="846137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9" name="Picture 509" descr="防火墙0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25" y="3111899"/>
            <a:ext cx="966788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0" name="Picture 509" descr="防火墙0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1149" y="3150103"/>
            <a:ext cx="966787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16"/>
          <p:cNvSpPr>
            <a:spLocks noChangeArrowheads="1"/>
          </p:cNvSpPr>
          <p:nvPr/>
        </p:nvSpPr>
        <p:spPr bwMode="auto">
          <a:xfrm>
            <a:off x="4743773" y="4180521"/>
            <a:ext cx="13227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IDP</a:t>
            </a:r>
            <a:r>
              <a:rPr lang="zh-CN" altLang="en-US" sz="1400" dirty="0">
                <a:solidFill>
                  <a:srgbClr val="0000FF"/>
                </a:solidFill>
              </a:rPr>
              <a:t>入侵防御</a:t>
            </a:r>
            <a:r>
              <a:rPr lang="en-US" altLang="zh-CN" sz="1400" dirty="0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62" name="Rectangle 16"/>
          <p:cNvSpPr>
            <a:spLocks noChangeArrowheads="1"/>
          </p:cNvSpPr>
          <p:nvPr/>
        </p:nvSpPr>
        <p:spPr bwMode="auto">
          <a:xfrm>
            <a:off x="1669223" y="3049852"/>
            <a:ext cx="22878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</a:rPr>
              <a:t>天融信外网防火墙</a:t>
            </a:r>
            <a:r>
              <a:rPr lang="en-US" altLang="zh-CN" sz="1800" b="1" dirty="0">
                <a:solidFill>
                  <a:srgbClr val="FF3300"/>
                </a:solidFill>
              </a:rPr>
              <a:t>-A</a:t>
            </a:r>
          </a:p>
        </p:txBody>
      </p:sp>
      <p:sp>
        <p:nvSpPr>
          <p:cNvPr id="64" name="Rectangle 16"/>
          <p:cNvSpPr>
            <a:spLocks noChangeArrowheads="1"/>
          </p:cNvSpPr>
          <p:nvPr/>
        </p:nvSpPr>
        <p:spPr bwMode="auto">
          <a:xfrm>
            <a:off x="8999538" y="3146113"/>
            <a:ext cx="22878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3300"/>
                </a:solidFill>
              </a:rPr>
              <a:t>天融信外网防火墙</a:t>
            </a:r>
            <a:r>
              <a:rPr lang="en-US" altLang="zh-CN" sz="1800" b="1" dirty="0">
                <a:solidFill>
                  <a:srgbClr val="FF3300"/>
                </a:solidFill>
              </a:rPr>
              <a:t>-B</a:t>
            </a:r>
          </a:p>
        </p:txBody>
      </p:sp>
      <p:pic>
        <p:nvPicPr>
          <p:cNvPr id="65" name="Picture 460" descr="图片23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678789" y="5517818"/>
            <a:ext cx="849621" cy="881715"/>
          </a:xfrm>
          <a:prstGeom prst="rect">
            <a:avLst/>
          </a:prstGeom>
          <a:noFill/>
        </p:spPr>
      </p:pic>
      <p:pic>
        <p:nvPicPr>
          <p:cNvPr id="66" name="Picture 460" descr="图片23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461428" y="5531726"/>
            <a:ext cx="852250" cy="884443"/>
          </a:xfrm>
          <a:prstGeom prst="rect">
            <a:avLst/>
          </a:prstGeom>
          <a:noFill/>
        </p:spPr>
      </p:pic>
      <p:sp>
        <p:nvSpPr>
          <p:cNvPr id="67" name="Line 66"/>
          <p:cNvSpPr>
            <a:spLocks noChangeShapeType="1"/>
          </p:cNvSpPr>
          <p:nvPr/>
        </p:nvSpPr>
        <p:spPr bwMode="auto">
          <a:xfrm flipH="1">
            <a:off x="7174764" y="3658891"/>
            <a:ext cx="1227989" cy="196975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66"/>
          <p:cNvSpPr>
            <a:spLocks noChangeShapeType="1"/>
          </p:cNvSpPr>
          <p:nvPr/>
        </p:nvSpPr>
        <p:spPr bwMode="auto">
          <a:xfrm>
            <a:off x="4650616" y="4649490"/>
            <a:ext cx="1128574" cy="851691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Rectangle 16"/>
          <p:cNvSpPr>
            <a:spLocks noChangeArrowheads="1"/>
          </p:cNvSpPr>
          <p:nvPr/>
        </p:nvSpPr>
        <p:spPr bwMode="auto">
          <a:xfrm>
            <a:off x="7573470" y="3048101"/>
            <a:ext cx="7024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Eth32 </a:t>
            </a:r>
          </a:p>
        </p:txBody>
      </p:sp>
      <p:graphicFrame>
        <p:nvGraphicFramePr>
          <p:cNvPr id="5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391441"/>
              </p:ext>
            </p:extLst>
          </p:nvPr>
        </p:nvGraphicFramePr>
        <p:xfrm>
          <a:off x="7623376" y="4050480"/>
          <a:ext cx="503238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9" name="Visio" r:id="rId10" imgW="297790" imgH="443484" progId="Visio.Drawing.11">
                  <p:embed/>
                </p:oleObj>
              </mc:Choice>
              <mc:Fallback>
                <p:oleObj name="Visio" r:id="rId10" imgW="297790" imgH="443484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3376" y="4050480"/>
                        <a:ext cx="503238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99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708688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16"/>
          <p:cNvSpPr>
            <a:spLocks noChangeArrowheads="1"/>
          </p:cNvSpPr>
          <p:nvPr/>
        </p:nvSpPr>
        <p:spPr bwMode="auto">
          <a:xfrm>
            <a:off x="6330745" y="4168544"/>
            <a:ext cx="132279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IDP</a:t>
            </a:r>
            <a:r>
              <a:rPr lang="zh-CN" altLang="en-US" sz="1400" dirty="0">
                <a:solidFill>
                  <a:srgbClr val="0000FF"/>
                </a:solidFill>
              </a:rPr>
              <a:t>入侵防御</a:t>
            </a:r>
            <a:r>
              <a:rPr lang="en-US" altLang="zh-CN" sz="1400" dirty="0">
                <a:solidFill>
                  <a:srgbClr val="0000FF"/>
                </a:solidFill>
              </a:rPr>
              <a:t>B</a:t>
            </a:r>
          </a:p>
        </p:txBody>
      </p:sp>
      <p:pic>
        <p:nvPicPr>
          <p:cNvPr id="57" name="Object 19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85278" y="5093688"/>
            <a:ext cx="298450" cy="207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" name="TextBox 228"/>
          <p:cNvSpPr txBox="1"/>
          <p:nvPr/>
        </p:nvSpPr>
        <p:spPr>
          <a:xfrm>
            <a:off x="3616911" y="5087695"/>
            <a:ext cx="130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防病毒过滤网关</a:t>
            </a:r>
          </a:p>
        </p:txBody>
      </p:sp>
      <p:sp>
        <p:nvSpPr>
          <p:cNvPr id="59" name="Line 508"/>
          <p:cNvSpPr>
            <a:spLocks noChangeShapeType="1"/>
          </p:cNvSpPr>
          <p:nvPr/>
        </p:nvSpPr>
        <p:spPr bwMode="auto">
          <a:xfrm>
            <a:off x="8040688" y="4488298"/>
            <a:ext cx="15843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" name="直接连接符 2"/>
          <p:cNvCxnSpPr>
            <a:stCxn id="59" idx="1"/>
          </p:cNvCxnSpPr>
          <p:nvPr/>
        </p:nvCxnSpPr>
        <p:spPr bwMode="auto">
          <a:xfrm>
            <a:off x="9625013" y="4488299"/>
            <a:ext cx="0" cy="12512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 flipV="1">
            <a:off x="7316427" y="5739577"/>
            <a:ext cx="2311335" cy="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Text Box 67"/>
          <p:cNvSpPr txBox="1">
            <a:spLocks noChangeArrowheads="1"/>
          </p:cNvSpPr>
          <p:nvPr/>
        </p:nvSpPr>
        <p:spPr bwMode="auto">
          <a:xfrm>
            <a:off x="7285037" y="5670225"/>
            <a:ext cx="208756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0000FF"/>
                </a:solidFill>
              </a:rPr>
              <a:t>GE 2/2/1/0 ( vlan 150)</a:t>
            </a:r>
          </a:p>
        </p:txBody>
      </p:sp>
      <p:sp>
        <p:nvSpPr>
          <p:cNvPr id="71" name="Rectangle 16"/>
          <p:cNvSpPr>
            <a:spLocks noChangeArrowheads="1"/>
          </p:cNvSpPr>
          <p:nvPr/>
        </p:nvSpPr>
        <p:spPr bwMode="auto">
          <a:xfrm>
            <a:off x="3203800" y="4253410"/>
            <a:ext cx="7312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MGMT</a:t>
            </a:r>
          </a:p>
        </p:txBody>
      </p:sp>
      <p:sp>
        <p:nvSpPr>
          <p:cNvPr id="72" name="Rectangle 16"/>
          <p:cNvSpPr>
            <a:spLocks noChangeArrowheads="1"/>
          </p:cNvSpPr>
          <p:nvPr/>
        </p:nvSpPr>
        <p:spPr bwMode="auto">
          <a:xfrm>
            <a:off x="8120075" y="4310653"/>
            <a:ext cx="7312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MGMT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35523" y="1295781"/>
            <a:ext cx="12923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0000FF"/>
                </a:solidFill>
              </a:rPr>
              <a:t>58.42.251.65/26</a:t>
            </a:r>
            <a:endParaRPr lang="zh-CN" altLang="en-US" sz="1200" b="1" dirty="0">
              <a:solidFill>
                <a:srgbClr val="0000FF"/>
              </a:solidFill>
            </a:endParaRPr>
          </a:p>
        </p:txBody>
      </p:sp>
      <p:sp>
        <p:nvSpPr>
          <p:cNvPr id="73" name="Rectangle 15"/>
          <p:cNvSpPr>
            <a:spLocks noChangeArrowheads="1"/>
          </p:cNvSpPr>
          <p:nvPr/>
        </p:nvSpPr>
        <p:spPr bwMode="auto">
          <a:xfrm>
            <a:off x="4354150" y="3582659"/>
            <a:ext cx="6527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Eth30</a:t>
            </a:r>
          </a:p>
        </p:txBody>
      </p:sp>
      <p:sp>
        <p:nvSpPr>
          <p:cNvPr id="74" name="Rectangle 16"/>
          <p:cNvSpPr>
            <a:spLocks noChangeArrowheads="1"/>
          </p:cNvSpPr>
          <p:nvPr/>
        </p:nvSpPr>
        <p:spPr bwMode="auto">
          <a:xfrm>
            <a:off x="4228763" y="2837419"/>
            <a:ext cx="6527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Eth31</a:t>
            </a:r>
          </a:p>
        </p:txBody>
      </p:sp>
      <p:sp>
        <p:nvSpPr>
          <p:cNvPr id="75" name="Rectangle 16"/>
          <p:cNvSpPr>
            <a:spLocks noChangeArrowheads="1"/>
          </p:cNvSpPr>
          <p:nvPr/>
        </p:nvSpPr>
        <p:spPr bwMode="auto">
          <a:xfrm>
            <a:off x="4792076" y="2961118"/>
            <a:ext cx="6527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Eth32</a:t>
            </a:r>
          </a:p>
        </p:txBody>
      </p:sp>
      <p:sp>
        <p:nvSpPr>
          <p:cNvPr id="76" name="Rectangle 61"/>
          <p:cNvSpPr>
            <a:spLocks noChangeArrowheads="1"/>
          </p:cNvSpPr>
          <p:nvPr/>
        </p:nvSpPr>
        <p:spPr bwMode="auto">
          <a:xfrm>
            <a:off x="3297965" y="4584740"/>
            <a:ext cx="17073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50000"/>
              </a:spcBef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Eth17</a:t>
            </a:r>
            <a:r>
              <a:rPr lang="en-US" altLang="zh-CN" sz="1200" dirty="0">
                <a:solidFill>
                  <a:srgbClr val="FF3300"/>
                </a:solidFill>
              </a:rPr>
              <a:t>:10.113.16.3/29</a:t>
            </a:r>
          </a:p>
        </p:txBody>
      </p:sp>
      <p:sp>
        <p:nvSpPr>
          <p:cNvPr id="78" name="Rectangle 61"/>
          <p:cNvSpPr>
            <a:spLocks noChangeArrowheads="1"/>
          </p:cNvSpPr>
          <p:nvPr/>
        </p:nvSpPr>
        <p:spPr bwMode="auto">
          <a:xfrm>
            <a:off x="7051978" y="4642186"/>
            <a:ext cx="18355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50000"/>
              </a:spcBef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Eth14</a:t>
            </a:r>
            <a:r>
              <a:rPr lang="en-US" altLang="zh-CN" sz="1200" dirty="0">
                <a:solidFill>
                  <a:srgbClr val="FF3300"/>
                </a:solidFill>
              </a:rPr>
              <a:t>:10.113.16.21 /29</a:t>
            </a:r>
          </a:p>
        </p:txBody>
      </p:sp>
      <p:sp>
        <p:nvSpPr>
          <p:cNvPr id="79" name="Rectangle 60"/>
          <p:cNvSpPr>
            <a:spLocks noChangeArrowheads="1"/>
          </p:cNvSpPr>
          <p:nvPr/>
        </p:nvSpPr>
        <p:spPr bwMode="auto">
          <a:xfrm>
            <a:off x="8046182" y="4012371"/>
            <a:ext cx="68909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Eth11 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5503906" y="5030164"/>
            <a:ext cx="12939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" b="1" dirty="0"/>
              <a:t>GE 1/2/1/3</a:t>
            </a:r>
            <a:r>
              <a:rPr lang="zh-CN" altLang="en-US" sz="800" b="1" dirty="0"/>
              <a:t>（</a:t>
            </a:r>
            <a:r>
              <a:rPr lang="en-US" altLang="zh-CN" sz="800" b="1" dirty="0"/>
              <a:t>vlan 150</a:t>
            </a:r>
            <a:r>
              <a:rPr lang="zh-CN" altLang="en-US" sz="800" b="1" dirty="0"/>
              <a:t>）</a:t>
            </a:r>
            <a:endParaRPr lang="zh-CN" altLang="en-US" sz="800" dirty="0"/>
          </a:p>
        </p:txBody>
      </p:sp>
      <p:cxnSp>
        <p:nvCxnSpPr>
          <p:cNvPr id="5" name="直接连接符 4"/>
          <p:cNvCxnSpPr>
            <a:stCxn id="57" idx="3"/>
          </p:cNvCxnSpPr>
          <p:nvPr/>
        </p:nvCxnSpPr>
        <p:spPr bwMode="auto">
          <a:xfrm>
            <a:off x="5483728" y="5197279"/>
            <a:ext cx="61987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>
            <a:endCxn id="65" idx="0"/>
          </p:cNvCxnSpPr>
          <p:nvPr/>
        </p:nvCxnSpPr>
        <p:spPr bwMode="auto">
          <a:xfrm>
            <a:off x="6103599" y="5197279"/>
            <a:ext cx="1" cy="32053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1" name="Rectangle 61"/>
          <p:cNvSpPr>
            <a:spLocks noChangeArrowheads="1"/>
          </p:cNvSpPr>
          <p:nvPr/>
        </p:nvSpPr>
        <p:spPr bwMode="auto">
          <a:xfrm>
            <a:off x="4313965" y="4826040"/>
            <a:ext cx="17073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ctr">
              <a:spcBef>
                <a:spcPct val="50000"/>
              </a:spcBef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Eth17</a:t>
            </a:r>
            <a:r>
              <a:rPr lang="en-US" altLang="zh-CN" sz="1200" dirty="0">
                <a:solidFill>
                  <a:srgbClr val="FF3300"/>
                </a:solidFill>
              </a:rPr>
              <a:t>:10.113.16.6/29</a:t>
            </a:r>
          </a:p>
        </p:txBody>
      </p:sp>
      <p:pic>
        <p:nvPicPr>
          <p:cNvPr id="82" name="Picture 24" descr="WSD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864600" y="5816600"/>
            <a:ext cx="11874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3" name="Picture 24" descr="WSD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3048000" y="5816600"/>
            <a:ext cx="11874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8" name="Line 508"/>
          <p:cNvSpPr>
            <a:spLocks noChangeShapeType="1"/>
          </p:cNvSpPr>
          <p:nvPr/>
        </p:nvSpPr>
        <p:spPr bwMode="auto">
          <a:xfrm>
            <a:off x="4121151" y="6096399"/>
            <a:ext cx="15843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508"/>
          <p:cNvSpPr>
            <a:spLocks noChangeShapeType="1"/>
          </p:cNvSpPr>
          <p:nvPr/>
        </p:nvSpPr>
        <p:spPr bwMode="auto">
          <a:xfrm>
            <a:off x="7334251" y="6134499"/>
            <a:ext cx="15843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Text Box 185"/>
          <p:cNvSpPr txBox="1">
            <a:spLocks noChangeArrowheads="1"/>
          </p:cNvSpPr>
          <p:nvPr/>
        </p:nvSpPr>
        <p:spPr bwMode="auto">
          <a:xfrm>
            <a:off x="965200" y="5872467"/>
            <a:ext cx="18764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(</a:t>
            </a:r>
            <a:r>
              <a:rPr lang="en-US" altLang="zh-CN" sz="1200" dirty="0" err="1">
                <a:solidFill>
                  <a:srgbClr val="FF3300"/>
                </a:solidFill>
              </a:rPr>
              <a:t>vlan</a:t>
            </a:r>
            <a:r>
              <a:rPr lang="en-US" altLang="zh-CN" sz="1200" dirty="0">
                <a:solidFill>
                  <a:srgbClr val="FF3300"/>
                </a:solidFill>
              </a:rPr>
              <a:t> 110)10.113.16.4/29</a:t>
            </a:r>
          </a:p>
        </p:txBody>
      </p:sp>
      <p:sp>
        <p:nvSpPr>
          <p:cNvPr id="91" name="Text Box 185"/>
          <p:cNvSpPr txBox="1">
            <a:spLocks noChangeArrowheads="1"/>
          </p:cNvSpPr>
          <p:nvPr/>
        </p:nvSpPr>
        <p:spPr bwMode="auto">
          <a:xfrm>
            <a:off x="9982200" y="5796267"/>
            <a:ext cx="2209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(</a:t>
            </a:r>
            <a:r>
              <a:rPr lang="en-US" altLang="zh-CN" sz="1200" dirty="0" err="1">
                <a:solidFill>
                  <a:srgbClr val="FF3300"/>
                </a:solidFill>
              </a:rPr>
              <a:t>Vlan</a:t>
            </a:r>
            <a:r>
              <a:rPr lang="en-US" altLang="zh-CN" sz="1200" dirty="0">
                <a:solidFill>
                  <a:srgbClr val="FF3300"/>
                </a:solidFill>
              </a:rPr>
              <a:t> 110)10.113.16.5/29</a:t>
            </a:r>
          </a:p>
        </p:txBody>
      </p:sp>
      <p:sp>
        <p:nvSpPr>
          <p:cNvPr id="92" name="Text Box 185"/>
          <p:cNvSpPr txBox="1">
            <a:spLocks noChangeArrowheads="1"/>
          </p:cNvSpPr>
          <p:nvPr/>
        </p:nvSpPr>
        <p:spPr bwMode="auto">
          <a:xfrm>
            <a:off x="825500" y="6126467"/>
            <a:ext cx="20415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(</a:t>
            </a:r>
            <a:r>
              <a:rPr lang="en-US" altLang="zh-CN" sz="1200" dirty="0" err="1">
                <a:solidFill>
                  <a:srgbClr val="FF3300"/>
                </a:solidFill>
              </a:rPr>
              <a:t>vlan</a:t>
            </a:r>
            <a:r>
              <a:rPr lang="en-US" altLang="zh-CN" sz="1200" dirty="0">
                <a:solidFill>
                  <a:srgbClr val="FF3300"/>
                </a:solidFill>
              </a:rPr>
              <a:t> 100)10.113.16.19/29</a:t>
            </a:r>
          </a:p>
        </p:txBody>
      </p:sp>
      <p:sp>
        <p:nvSpPr>
          <p:cNvPr id="93" name="Text Box 185"/>
          <p:cNvSpPr txBox="1">
            <a:spLocks noChangeArrowheads="1"/>
          </p:cNvSpPr>
          <p:nvPr/>
        </p:nvSpPr>
        <p:spPr bwMode="auto">
          <a:xfrm>
            <a:off x="927100" y="6367767"/>
            <a:ext cx="19526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(</a:t>
            </a:r>
            <a:r>
              <a:rPr lang="en-US" altLang="zh-CN" sz="1200" dirty="0" err="1">
                <a:solidFill>
                  <a:srgbClr val="FF3300"/>
                </a:solidFill>
              </a:rPr>
              <a:t>valn</a:t>
            </a:r>
            <a:r>
              <a:rPr lang="en-US" altLang="zh-CN" sz="1200" dirty="0">
                <a:solidFill>
                  <a:srgbClr val="FF3300"/>
                </a:solidFill>
              </a:rPr>
              <a:t> 111)10.113.16.33/29</a:t>
            </a:r>
          </a:p>
        </p:txBody>
      </p:sp>
      <p:sp>
        <p:nvSpPr>
          <p:cNvPr id="94" name="Text Box 185"/>
          <p:cNvSpPr txBox="1">
            <a:spLocks noChangeArrowheads="1"/>
          </p:cNvSpPr>
          <p:nvPr/>
        </p:nvSpPr>
        <p:spPr bwMode="auto">
          <a:xfrm>
            <a:off x="10045700" y="6088367"/>
            <a:ext cx="21463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(</a:t>
            </a:r>
            <a:r>
              <a:rPr lang="en-US" altLang="zh-CN" sz="1200" dirty="0" err="1">
                <a:solidFill>
                  <a:srgbClr val="FF3300"/>
                </a:solidFill>
              </a:rPr>
              <a:t>Vlan</a:t>
            </a:r>
            <a:r>
              <a:rPr lang="en-US" altLang="zh-CN" sz="1200" dirty="0">
                <a:solidFill>
                  <a:srgbClr val="FF3300"/>
                </a:solidFill>
              </a:rPr>
              <a:t> 100 )10.113.16.20/29</a:t>
            </a:r>
          </a:p>
        </p:txBody>
      </p:sp>
      <p:sp>
        <p:nvSpPr>
          <p:cNvPr id="95" name="Text Box 185"/>
          <p:cNvSpPr txBox="1">
            <a:spLocks noChangeArrowheads="1"/>
          </p:cNvSpPr>
          <p:nvPr/>
        </p:nvSpPr>
        <p:spPr bwMode="auto">
          <a:xfrm>
            <a:off x="10033000" y="6367767"/>
            <a:ext cx="21590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(</a:t>
            </a:r>
            <a:r>
              <a:rPr lang="en-US" altLang="zh-CN" sz="1200" dirty="0" err="1">
                <a:solidFill>
                  <a:srgbClr val="FF3300"/>
                </a:solidFill>
              </a:rPr>
              <a:t>Vlan</a:t>
            </a:r>
            <a:r>
              <a:rPr lang="en-US" altLang="zh-CN" sz="1200" dirty="0">
                <a:solidFill>
                  <a:srgbClr val="FF3300"/>
                </a:solidFill>
              </a:rPr>
              <a:t> 111)10.113.16.34/29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41800" y="6146800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radware</a:t>
            </a:r>
            <a:endParaRPr lang="zh-CN" altLang="en-US"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8166100" y="6223000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radware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2286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41"/>
          <p:cNvSpPr txBox="1">
            <a:spLocks noChangeArrowheads="1"/>
          </p:cNvSpPr>
          <p:nvPr/>
        </p:nvSpPr>
        <p:spPr bwMode="auto">
          <a:xfrm>
            <a:off x="2734790" y="243907"/>
            <a:ext cx="733282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贵州中烟工业公司网络</a:t>
            </a:r>
            <a:r>
              <a:rPr lang="en-US" altLang="zh-CN" sz="3600" b="1" dirty="0"/>
              <a:t>-</a:t>
            </a:r>
            <a:r>
              <a:rPr lang="zh-CN" altLang="en-US" sz="2000" b="1" dirty="0"/>
              <a:t>楼层网络接入区</a:t>
            </a:r>
          </a:p>
        </p:txBody>
      </p:sp>
      <p:sp>
        <p:nvSpPr>
          <p:cNvPr id="4099" name="Text Box 519"/>
          <p:cNvSpPr txBox="1">
            <a:spLocks noChangeArrowheads="1"/>
          </p:cNvSpPr>
          <p:nvPr/>
        </p:nvSpPr>
        <p:spPr bwMode="auto">
          <a:xfrm>
            <a:off x="9088438" y="3077080"/>
            <a:ext cx="13652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</a:t>
            </a:r>
            <a:r>
              <a:rPr lang="zh-CN" altLang="en-US" sz="1000"/>
              <a:t>万兆光纤链路</a:t>
            </a:r>
          </a:p>
        </p:txBody>
      </p:sp>
      <p:sp>
        <p:nvSpPr>
          <p:cNvPr id="4100" name="Text Box 520"/>
          <p:cNvSpPr txBox="1">
            <a:spLocks noChangeArrowheads="1"/>
          </p:cNvSpPr>
          <p:nvPr/>
        </p:nvSpPr>
        <p:spPr bwMode="auto">
          <a:xfrm>
            <a:off x="9088439" y="3366006"/>
            <a:ext cx="8651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</a:t>
            </a:r>
            <a:r>
              <a:rPr lang="zh-CN" altLang="en-US" sz="1000"/>
              <a:t>千兆链路</a:t>
            </a:r>
          </a:p>
        </p:txBody>
      </p:sp>
      <p:sp>
        <p:nvSpPr>
          <p:cNvPr id="4101" name="Text Box 240"/>
          <p:cNvSpPr txBox="1">
            <a:spLocks noChangeArrowheads="1"/>
          </p:cNvSpPr>
          <p:nvPr/>
        </p:nvSpPr>
        <p:spPr bwMode="auto">
          <a:xfrm>
            <a:off x="8424863" y="2467480"/>
            <a:ext cx="19288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52C :  S5500</a:t>
            </a:r>
            <a:r>
              <a:rPr lang="zh-CN" altLang="en-US" sz="1000"/>
              <a:t>－</a:t>
            </a:r>
            <a:r>
              <a:rPr lang="en-US" altLang="zh-CN" sz="1000"/>
              <a:t>52C</a:t>
            </a:r>
            <a:r>
              <a:rPr lang="zh-CN" altLang="en-US" sz="1000"/>
              <a:t>－</a:t>
            </a:r>
            <a:r>
              <a:rPr lang="en-US" altLang="zh-CN" sz="1000"/>
              <a:t>EI</a:t>
            </a:r>
          </a:p>
        </p:txBody>
      </p:sp>
      <p:sp>
        <p:nvSpPr>
          <p:cNvPr id="4102" name="Text Box 240"/>
          <p:cNvSpPr txBox="1">
            <a:spLocks noChangeArrowheads="1"/>
          </p:cNvSpPr>
          <p:nvPr/>
        </p:nvSpPr>
        <p:spPr bwMode="auto">
          <a:xfrm>
            <a:off x="8424863" y="2789743"/>
            <a:ext cx="1928812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28C :  S5500</a:t>
            </a:r>
            <a:r>
              <a:rPr lang="zh-CN" altLang="en-US" sz="1000"/>
              <a:t>－</a:t>
            </a:r>
            <a:r>
              <a:rPr lang="en-US" altLang="zh-CN" sz="1000"/>
              <a:t>28C</a:t>
            </a:r>
            <a:r>
              <a:rPr lang="zh-CN" altLang="en-US" sz="1000"/>
              <a:t>－</a:t>
            </a:r>
            <a:r>
              <a:rPr lang="en-US" altLang="zh-CN" sz="1000"/>
              <a:t>EI</a:t>
            </a:r>
          </a:p>
        </p:txBody>
      </p:sp>
      <p:grpSp>
        <p:nvGrpSpPr>
          <p:cNvPr id="4103" name="组合 201"/>
          <p:cNvGrpSpPr>
            <a:grpSpLocks/>
          </p:cNvGrpSpPr>
          <p:nvPr/>
        </p:nvGrpSpPr>
        <p:grpSpPr bwMode="auto">
          <a:xfrm>
            <a:off x="8440739" y="5043992"/>
            <a:ext cx="1362075" cy="1016000"/>
            <a:chOff x="0" y="0"/>
            <a:chExt cx="1292228" cy="928695"/>
          </a:xfrm>
        </p:grpSpPr>
        <p:sp>
          <p:nvSpPr>
            <p:cNvPr id="4199" name="Line 518"/>
            <p:cNvSpPr>
              <a:spLocks noChangeShapeType="1"/>
            </p:cNvSpPr>
            <p:nvPr/>
          </p:nvSpPr>
          <p:spPr bwMode="auto">
            <a:xfrm flipV="1">
              <a:off x="204104" y="0"/>
              <a:ext cx="428627" cy="5715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" name="Line 518"/>
            <p:cNvSpPr>
              <a:spLocks noChangeShapeType="1"/>
            </p:cNvSpPr>
            <p:nvPr/>
          </p:nvSpPr>
          <p:spPr bwMode="auto">
            <a:xfrm flipV="1">
              <a:off x="658451" y="1"/>
              <a:ext cx="45719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" name="Line 518"/>
            <p:cNvSpPr>
              <a:spLocks noChangeShapeType="1"/>
            </p:cNvSpPr>
            <p:nvPr/>
          </p:nvSpPr>
          <p:spPr bwMode="auto">
            <a:xfrm flipH="1" flipV="1">
              <a:off x="775608" y="1"/>
              <a:ext cx="285751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202" name="Picture 220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96895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03" name="Picture 221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70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04" name="Picture 222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428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104" name="组合 194"/>
          <p:cNvGrpSpPr>
            <a:grpSpLocks/>
          </p:cNvGrpSpPr>
          <p:nvPr/>
        </p:nvGrpSpPr>
        <p:grpSpPr bwMode="auto">
          <a:xfrm>
            <a:off x="6934201" y="5043992"/>
            <a:ext cx="1362075" cy="1016000"/>
            <a:chOff x="0" y="0"/>
            <a:chExt cx="1292228" cy="928695"/>
          </a:xfrm>
        </p:grpSpPr>
        <p:sp>
          <p:nvSpPr>
            <p:cNvPr id="4193" name="Line 518"/>
            <p:cNvSpPr>
              <a:spLocks noChangeShapeType="1"/>
            </p:cNvSpPr>
            <p:nvPr/>
          </p:nvSpPr>
          <p:spPr bwMode="auto">
            <a:xfrm flipV="1">
              <a:off x="204104" y="0"/>
              <a:ext cx="428627" cy="5715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4" name="Line 518"/>
            <p:cNvSpPr>
              <a:spLocks noChangeShapeType="1"/>
            </p:cNvSpPr>
            <p:nvPr/>
          </p:nvSpPr>
          <p:spPr bwMode="auto">
            <a:xfrm flipV="1">
              <a:off x="658451" y="1"/>
              <a:ext cx="45719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5" name="Line 518"/>
            <p:cNvSpPr>
              <a:spLocks noChangeShapeType="1"/>
            </p:cNvSpPr>
            <p:nvPr/>
          </p:nvSpPr>
          <p:spPr bwMode="auto">
            <a:xfrm flipH="1" flipV="1">
              <a:off x="775608" y="1"/>
              <a:ext cx="285751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196" name="Picture 220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96895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7" name="Picture 221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70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8" name="Picture 222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428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105" name="组合 187"/>
          <p:cNvGrpSpPr>
            <a:grpSpLocks/>
          </p:cNvGrpSpPr>
          <p:nvPr/>
        </p:nvGrpSpPr>
        <p:grpSpPr bwMode="auto">
          <a:xfrm>
            <a:off x="5434014" y="5043992"/>
            <a:ext cx="1362075" cy="1016000"/>
            <a:chOff x="0" y="0"/>
            <a:chExt cx="1292228" cy="928695"/>
          </a:xfrm>
        </p:grpSpPr>
        <p:sp>
          <p:nvSpPr>
            <p:cNvPr id="4187" name="Line 518"/>
            <p:cNvSpPr>
              <a:spLocks noChangeShapeType="1"/>
            </p:cNvSpPr>
            <p:nvPr/>
          </p:nvSpPr>
          <p:spPr bwMode="auto">
            <a:xfrm flipV="1">
              <a:off x="204104" y="0"/>
              <a:ext cx="428627" cy="5715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8" name="Line 518"/>
            <p:cNvSpPr>
              <a:spLocks noChangeShapeType="1"/>
            </p:cNvSpPr>
            <p:nvPr/>
          </p:nvSpPr>
          <p:spPr bwMode="auto">
            <a:xfrm flipV="1">
              <a:off x="658451" y="1"/>
              <a:ext cx="45719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9" name="Line 518"/>
            <p:cNvSpPr>
              <a:spLocks noChangeShapeType="1"/>
            </p:cNvSpPr>
            <p:nvPr/>
          </p:nvSpPr>
          <p:spPr bwMode="auto">
            <a:xfrm flipH="1" flipV="1">
              <a:off x="775608" y="1"/>
              <a:ext cx="285751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190" name="Picture 220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96895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1" name="Picture 221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70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92" name="Picture 222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428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106" name="组合 180"/>
          <p:cNvGrpSpPr>
            <a:grpSpLocks/>
          </p:cNvGrpSpPr>
          <p:nvPr/>
        </p:nvGrpSpPr>
        <p:grpSpPr bwMode="auto">
          <a:xfrm>
            <a:off x="3919538" y="5034467"/>
            <a:ext cx="1363662" cy="1016000"/>
            <a:chOff x="0" y="0"/>
            <a:chExt cx="1292228" cy="928695"/>
          </a:xfrm>
        </p:grpSpPr>
        <p:sp>
          <p:nvSpPr>
            <p:cNvPr id="4181" name="Line 518"/>
            <p:cNvSpPr>
              <a:spLocks noChangeShapeType="1"/>
            </p:cNvSpPr>
            <p:nvPr/>
          </p:nvSpPr>
          <p:spPr bwMode="auto">
            <a:xfrm flipV="1">
              <a:off x="204104" y="0"/>
              <a:ext cx="428627" cy="5715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2" name="Line 518"/>
            <p:cNvSpPr>
              <a:spLocks noChangeShapeType="1"/>
            </p:cNvSpPr>
            <p:nvPr/>
          </p:nvSpPr>
          <p:spPr bwMode="auto">
            <a:xfrm flipV="1">
              <a:off x="658451" y="1"/>
              <a:ext cx="45719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3" name="Line 518"/>
            <p:cNvSpPr>
              <a:spLocks noChangeShapeType="1"/>
            </p:cNvSpPr>
            <p:nvPr/>
          </p:nvSpPr>
          <p:spPr bwMode="auto">
            <a:xfrm flipH="1" flipV="1">
              <a:off x="775608" y="1"/>
              <a:ext cx="285751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184" name="Picture 220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96895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85" name="Picture 221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70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86" name="Picture 222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428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107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1" y="4913817"/>
            <a:ext cx="569913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1" y="4721730"/>
            <a:ext cx="5699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0" name="Line 146"/>
          <p:cNvSpPr>
            <a:spLocks noChangeShapeType="1"/>
          </p:cNvSpPr>
          <p:nvPr/>
        </p:nvSpPr>
        <p:spPr bwMode="auto">
          <a:xfrm>
            <a:off x="5087938" y="1737230"/>
            <a:ext cx="230346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3" name="Text Box 240"/>
          <p:cNvSpPr txBox="1">
            <a:spLocks noChangeArrowheads="1"/>
          </p:cNvSpPr>
          <p:nvPr/>
        </p:nvSpPr>
        <p:spPr bwMode="auto">
          <a:xfrm>
            <a:off x="2495551" y="4296281"/>
            <a:ext cx="8286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52C×1</a:t>
            </a:r>
          </a:p>
        </p:txBody>
      </p:sp>
      <p:sp>
        <p:nvSpPr>
          <p:cNvPr id="4114" name="Line 517"/>
          <p:cNvSpPr>
            <a:spLocks noChangeShapeType="1"/>
          </p:cNvSpPr>
          <p:nvPr/>
        </p:nvSpPr>
        <p:spPr bwMode="auto">
          <a:xfrm>
            <a:off x="8543926" y="3177092"/>
            <a:ext cx="682625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5" name="Line 518"/>
          <p:cNvSpPr>
            <a:spLocks noChangeShapeType="1"/>
          </p:cNvSpPr>
          <p:nvPr/>
        </p:nvSpPr>
        <p:spPr bwMode="auto">
          <a:xfrm>
            <a:off x="8573095" y="3472494"/>
            <a:ext cx="682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" name="Line 65"/>
          <p:cNvSpPr>
            <a:spLocks noChangeShapeType="1"/>
          </p:cNvSpPr>
          <p:nvPr/>
        </p:nvSpPr>
        <p:spPr bwMode="auto">
          <a:xfrm flipH="1">
            <a:off x="3000376" y="2024567"/>
            <a:ext cx="1655763" cy="252095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7" name="Line 65"/>
          <p:cNvSpPr>
            <a:spLocks noChangeShapeType="1"/>
          </p:cNvSpPr>
          <p:nvPr/>
        </p:nvSpPr>
        <p:spPr bwMode="auto">
          <a:xfrm flipH="1">
            <a:off x="4656138" y="2096005"/>
            <a:ext cx="215900" cy="2449512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8" name="Line 65"/>
          <p:cNvSpPr>
            <a:spLocks noChangeShapeType="1"/>
          </p:cNvSpPr>
          <p:nvPr/>
        </p:nvSpPr>
        <p:spPr bwMode="auto">
          <a:xfrm>
            <a:off x="4981576" y="2142043"/>
            <a:ext cx="1204913" cy="2422525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9" name="Line 65"/>
          <p:cNvSpPr>
            <a:spLocks noChangeShapeType="1"/>
          </p:cNvSpPr>
          <p:nvPr/>
        </p:nvSpPr>
        <p:spPr bwMode="auto">
          <a:xfrm>
            <a:off x="5159375" y="2024568"/>
            <a:ext cx="2160588" cy="2663825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0" name="Line 65"/>
          <p:cNvSpPr>
            <a:spLocks noChangeShapeType="1"/>
          </p:cNvSpPr>
          <p:nvPr/>
        </p:nvSpPr>
        <p:spPr bwMode="auto">
          <a:xfrm>
            <a:off x="5375276" y="1953130"/>
            <a:ext cx="3675063" cy="276860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1" name="Line 65"/>
          <p:cNvSpPr>
            <a:spLocks noChangeShapeType="1"/>
          </p:cNvSpPr>
          <p:nvPr/>
        </p:nvSpPr>
        <p:spPr bwMode="auto">
          <a:xfrm flipH="1">
            <a:off x="3287713" y="1892806"/>
            <a:ext cx="3861624" cy="2795587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2" name="Line 65"/>
          <p:cNvSpPr>
            <a:spLocks noChangeShapeType="1"/>
          </p:cNvSpPr>
          <p:nvPr/>
        </p:nvSpPr>
        <p:spPr bwMode="auto">
          <a:xfrm flipH="1">
            <a:off x="4872038" y="2030917"/>
            <a:ext cx="2373516" cy="2657475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3" name="Line 65"/>
          <p:cNvSpPr>
            <a:spLocks noChangeShapeType="1"/>
          </p:cNvSpPr>
          <p:nvPr/>
        </p:nvSpPr>
        <p:spPr bwMode="auto">
          <a:xfrm flipH="1">
            <a:off x="6456363" y="2183810"/>
            <a:ext cx="938415" cy="2577607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4" name="Line 65"/>
          <p:cNvSpPr>
            <a:spLocks noChangeShapeType="1"/>
          </p:cNvSpPr>
          <p:nvPr/>
        </p:nvSpPr>
        <p:spPr bwMode="auto">
          <a:xfrm flipH="1">
            <a:off x="7542214" y="2169030"/>
            <a:ext cx="66675" cy="2474912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25" name="Line 65"/>
          <p:cNvSpPr>
            <a:spLocks noChangeShapeType="1"/>
          </p:cNvSpPr>
          <p:nvPr/>
        </p:nvSpPr>
        <p:spPr bwMode="auto">
          <a:xfrm>
            <a:off x="7751764" y="2024567"/>
            <a:ext cx="1512887" cy="259238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28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1" y="4523292"/>
            <a:ext cx="5699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29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976" y="4523292"/>
            <a:ext cx="5699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30" name="Text Box 240"/>
          <p:cNvSpPr txBox="1">
            <a:spLocks noChangeArrowheads="1"/>
          </p:cNvSpPr>
          <p:nvPr/>
        </p:nvSpPr>
        <p:spPr bwMode="auto">
          <a:xfrm>
            <a:off x="2482850" y="6253668"/>
            <a:ext cx="9921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一楼及夹层</a:t>
            </a:r>
          </a:p>
        </p:txBody>
      </p:sp>
      <p:sp>
        <p:nvSpPr>
          <p:cNvPr id="4131" name="Text Box 240"/>
          <p:cNvSpPr txBox="1">
            <a:spLocks noChangeArrowheads="1"/>
          </p:cNvSpPr>
          <p:nvPr/>
        </p:nvSpPr>
        <p:spPr bwMode="auto">
          <a:xfrm>
            <a:off x="3851276" y="6253668"/>
            <a:ext cx="14446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二楼</a:t>
            </a:r>
          </a:p>
        </p:txBody>
      </p:sp>
      <p:sp>
        <p:nvSpPr>
          <p:cNvPr id="4132" name="Text Box 240"/>
          <p:cNvSpPr txBox="1">
            <a:spLocks noChangeArrowheads="1"/>
          </p:cNvSpPr>
          <p:nvPr/>
        </p:nvSpPr>
        <p:spPr bwMode="auto">
          <a:xfrm>
            <a:off x="5434014" y="6253668"/>
            <a:ext cx="14446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三楼</a:t>
            </a:r>
          </a:p>
        </p:txBody>
      </p:sp>
      <p:sp>
        <p:nvSpPr>
          <p:cNvPr id="4133" name="Text Box 240"/>
          <p:cNvSpPr txBox="1">
            <a:spLocks noChangeArrowheads="1"/>
          </p:cNvSpPr>
          <p:nvPr/>
        </p:nvSpPr>
        <p:spPr bwMode="auto">
          <a:xfrm>
            <a:off x="6864351" y="6253668"/>
            <a:ext cx="14446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四楼</a:t>
            </a:r>
          </a:p>
        </p:txBody>
      </p:sp>
      <p:sp>
        <p:nvSpPr>
          <p:cNvPr id="4134" name="Text Box 240"/>
          <p:cNvSpPr txBox="1">
            <a:spLocks noChangeArrowheads="1"/>
          </p:cNvSpPr>
          <p:nvPr/>
        </p:nvSpPr>
        <p:spPr bwMode="auto">
          <a:xfrm>
            <a:off x="8432801" y="6252081"/>
            <a:ext cx="14462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五楼</a:t>
            </a:r>
          </a:p>
        </p:txBody>
      </p:sp>
      <p:pic>
        <p:nvPicPr>
          <p:cNvPr id="4135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789" y="4943980"/>
            <a:ext cx="568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36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789" y="4750306"/>
            <a:ext cx="56832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37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789" y="4553455"/>
            <a:ext cx="568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38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514" y="4955092"/>
            <a:ext cx="568325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39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514" y="4763005"/>
            <a:ext cx="568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40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514" y="4564567"/>
            <a:ext cx="568325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41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864" y="4763005"/>
            <a:ext cx="5683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42" name="Picture 98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864" y="4564567"/>
            <a:ext cx="568325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43" name="Text Box 240"/>
          <p:cNvSpPr txBox="1">
            <a:spLocks noChangeArrowheads="1"/>
          </p:cNvSpPr>
          <p:nvPr/>
        </p:nvSpPr>
        <p:spPr bwMode="auto">
          <a:xfrm>
            <a:off x="4032251" y="4342318"/>
            <a:ext cx="6778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28C×1</a:t>
            </a:r>
          </a:p>
        </p:txBody>
      </p:sp>
      <p:sp>
        <p:nvSpPr>
          <p:cNvPr id="4144" name="Text Box 240"/>
          <p:cNvSpPr txBox="1">
            <a:spLocks noChangeArrowheads="1"/>
          </p:cNvSpPr>
          <p:nvPr/>
        </p:nvSpPr>
        <p:spPr bwMode="auto">
          <a:xfrm>
            <a:off x="4756151" y="4643943"/>
            <a:ext cx="6016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堆叠</a:t>
            </a:r>
          </a:p>
        </p:txBody>
      </p:sp>
      <p:sp>
        <p:nvSpPr>
          <p:cNvPr id="4145" name="Text Box 240"/>
          <p:cNvSpPr txBox="1">
            <a:spLocks noChangeArrowheads="1"/>
          </p:cNvSpPr>
          <p:nvPr/>
        </p:nvSpPr>
        <p:spPr bwMode="auto">
          <a:xfrm>
            <a:off x="6337300" y="4643943"/>
            <a:ext cx="603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堆叠</a:t>
            </a:r>
          </a:p>
        </p:txBody>
      </p:sp>
      <p:sp>
        <p:nvSpPr>
          <p:cNvPr id="4146" name="Text Box 240"/>
          <p:cNvSpPr txBox="1">
            <a:spLocks noChangeArrowheads="1"/>
          </p:cNvSpPr>
          <p:nvPr/>
        </p:nvSpPr>
        <p:spPr bwMode="auto">
          <a:xfrm>
            <a:off x="7693025" y="4643943"/>
            <a:ext cx="603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堆叠</a:t>
            </a:r>
          </a:p>
        </p:txBody>
      </p:sp>
      <p:sp>
        <p:nvSpPr>
          <p:cNvPr id="4147" name="Text Box 240"/>
          <p:cNvSpPr txBox="1">
            <a:spLocks noChangeArrowheads="1"/>
          </p:cNvSpPr>
          <p:nvPr/>
        </p:nvSpPr>
        <p:spPr bwMode="auto">
          <a:xfrm>
            <a:off x="9350375" y="4643943"/>
            <a:ext cx="603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</a:t>
            </a:r>
            <a:r>
              <a:rPr lang="zh-CN" altLang="en-US" sz="1000"/>
              <a:t>堆叠</a:t>
            </a:r>
          </a:p>
        </p:txBody>
      </p:sp>
      <p:sp>
        <p:nvSpPr>
          <p:cNvPr id="4148" name="Text Box 240"/>
          <p:cNvSpPr txBox="1">
            <a:spLocks noChangeArrowheads="1"/>
          </p:cNvSpPr>
          <p:nvPr/>
        </p:nvSpPr>
        <p:spPr bwMode="auto">
          <a:xfrm>
            <a:off x="3927476" y="4139118"/>
            <a:ext cx="8286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52C×2</a:t>
            </a:r>
          </a:p>
        </p:txBody>
      </p:sp>
      <p:sp>
        <p:nvSpPr>
          <p:cNvPr id="4149" name="Text Box 240"/>
          <p:cNvSpPr txBox="1">
            <a:spLocks noChangeArrowheads="1"/>
          </p:cNvSpPr>
          <p:nvPr/>
        </p:nvSpPr>
        <p:spPr bwMode="auto">
          <a:xfrm>
            <a:off x="5387976" y="4374068"/>
            <a:ext cx="6778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28C×1</a:t>
            </a:r>
          </a:p>
        </p:txBody>
      </p:sp>
      <p:sp>
        <p:nvSpPr>
          <p:cNvPr id="4150" name="Text Box 240"/>
          <p:cNvSpPr txBox="1">
            <a:spLocks noChangeArrowheads="1"/>
          </p:cNvSpPr>
          <p:nvPr/>
        </p:nvSpPr>
        <p:spPr bwMode="auto">
          <a:xfrm>
            <a:off x="5283201" y="4174043"/>
            <a:ext cx="82867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52C×2</a:t>
            </a:r>
          </a:p>
        </p:txBody>
      </p:sp>
      <p:sp>
        <p:nvSpPr>
          <p:cNvPr id="4151" name="Text Box 240"/>
          <p:cNvSpPr txBox="1">
            <a:spLocks noChangeArrowheads="1"/>
          </p:cNvSpPr>
          <p:nvPr/>
        </p:nvSpPr>
        <p:spPr bwMode="auto">
          <a:xfrm>
            <a:off x="7497763" y="4374068"/>
            <a:ext cx="6778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28C×1</a:t>
            </a:r>
          </a:p>
        </p:txBody>
      </p:sp>
      <p:sp>
        <p:nvSpPr>
          <p:cNvPr id="4152" name="Text Box 240"/>
          <p:cNvSpPr txBox="1">
            <a:spLocks noChangeArrowheads="1"/>
          </p:cNvSpPr>
          <p:nvPr/>
        </p:nvSpPr>
        <p:spPr bwMode="auto">
          <a:xfrm>
            <a:off x="7392989" y="4174043"/>
            <a:ext cx="82867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52C×2</a:t>
            </a:r>
          </a:p>
        </p:txBody>
      </p:sp>
      <p:sp>
        <p:nvSpPr>
          <p:cNvPr id="4153" name="Text Box 240"/>
          <p:cNvSpPr txBox="1">
            <a:spLocks noChangeArrowheads="1"/>
          </p:cNvSpPr>
          <p:nvPr/>
        </p:nvSpPr>
        <p:spPr bwMode="auto">
          <a:xfrm>
            <a:off x="8974139" y="4296281"/>
            <a:ext cx="8286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/>
              <a:t>   52C×2</a:t>
            </a:r>
          </a:p>
        </p:txBody>
      </p:sp>
      <p:grpSp>
        <p:nvGrpSpPr>
          <p:cNvPr id="4154" name="组合 179"/>
          <p:cNvGrpSpPr>
            <a:grpSpLocks/>
          </p:cNvGrpSpPr>
          <p:nvPr/>
        </p:nvGrpSpPr>
        <p:grpSpPr bwMode="auto">
          <a:xfrm>
            <a:off x="2279651" y="4877305"/>
            <a:ext cx="1362075" cy="1016000"/>
            <a:chOff x="0" y="0"/>
            <a:chExt cx="1292228" cy="928695"/>
          </a:xfrm>
        </p:grpSpPr>
        <p:sp>
          <p:nvSpPr>
            <p:cNvPr id="4175" name="Line 518"/>
            <p:cNvSpPr>
              <a:spLocks noChangeShapeType="1"/>
            </p:cNvSpPr>
            <p:nvPr/>
          </p:nvSpPr>
          <p:spPr bwMode="auto">
            <a:xfrm flipV="1">
              <a:off x="204104" y="0"/>
              <a:ext cx="428627" cy="5715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6" name="Line 518"/>
            <p:cNvSpPr>
              <a:spLocks noChangeShapeType="1"/>
            </p:cNvSpPr>
            <p:nvPr/>
          </p:nvSpPr>
          <p:spPr bwMode="auto">
            <a:xfrm flipV="1">
              <a:off x="658451" y="1"/>
              <a:ext cx="45719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7" name="Line 518"/>
            <p:cNvSpPr>
              <a:spLocks noChangeShapeType="1"/>
            </p:cNvSpPr>
            <p:nvPr/>
          </p:nvSpPr>
          <p:spPr bwMode="auto">
            <a:xfrm flipH="1" flipV="1">
              <a:off x="775608" y="1"/>
              <a:ext cx="285751" cy="5715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4178" name="Picture 220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96895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79" name="Picture 221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870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80" name="Picture 222" descr="台式电脑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0428" y="519120"/>
              <a:ext cx="4318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156" name="Text Box 185"/>
          <p:cNvSpPr txBox="1">
            <a:spLocks noChangeArrowheads="1"/>
          </p:cNvSpPr>
          <p:nvPr/>
        </p:nvSpPr>
        <p:spPr bwMode="auto">
          <a:xfrm>
            <a:off x="1197738" y="4469397"/>
            <a:ext cx="10001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400" b="1" dirty="0"/>
              <a:t>楼层网络接入区</a:t>
            </a:r>
          </a:p>
        </p:txBody>
      </p:sp>
      <p:sp>
        <p:nvSpPr>
          <p:cNvPr id="4157" name="Rectangle 92"/>
          <p:cNvSpPr>
            <a:spLocks noChangeArrowheads="1"/>
          </p:cNvSpPr>
          <p:nvPr/>
        </p:nvSpPr>
        <p:spPr bwMode="auto">
          <a:xfrm>
            <a:off x="2075764" y="6026775"/>
            <a:ext cx="18603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rgbClr val="FF0000"/>
                </a:solidFill>
              </a:rPr>
              <a:t>管理</a:t>
            </a:r>
            <a:r>
              <a:rPr lang="en-US" altLang="zh-CN" sz="1200" dirty="0">
                <a:solidFill>
                  <a:srgbClr val="FF0000"/>
                </a:solidFill>
              </a:rPr>
              <a:t>IP:10.113.4.71/26</a:t>
            </a:r>
          </a:p>
        </p:txBody>
      </p:sp>
      <p:sp>
        <p:nvSpPr>
          <p:cNvPr id="4158" name="Rectangle 93"/>
          <p:cNvSpPr>
            <a:spLocks noChangeArrowheads="1"/>
          </p:cNvSpPr>
          <p:nvPr/>
        </p:nvSpPr>
        <p:spPr bwMode="auto">
          <a:xfrm>
            <a:off x="3745919" y="6054962"/>
            <a:ext cx="16975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rgbClr val="FF0000"/>
                </a:solidFill>
              </a:rPr>
              <a:t>管理</a:t>
            </a:r>
            <a:r>
              <a:rPr lang="en-US" altLang="zh-CN" sz="1200" dirty="0">
                <a:solidFill>
                  <a:srgbClr val="FF0000"/>
                </a:solidFill>
              </a:rPr>
              <a:t>IP:10.113.4.72/26</a:t>
            </a:r>
          </a:p>
        </p:txBody>
      </p:sp>
      <p:sp>
        <p:nvSpPr>
          <p:cNvPr id="4159" name="Rectangle 94"/>
          <p:cNvSpPr>
            <a:spLocks noChangeArrowheads="1"/>
          </p:cNvSpPr>
          <p:nvPr/>
        </p:nvSpPr>
        <p:spPr bwMode="auto">
          <a:xfrm>
            <a:off x="5357544" y="6043882"/>
            <a:ext cx="20094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rgbClr val="FF0000"/>
                </a:solidFill>
              </a:rPr>
              <a:t>管理</a:t>
            </a:r>
            <a:r>
              <a:rPr lang="en-US" altLang="zh-CN" sz="1200" dirty="0">
                <a:solidFill>
                  <a:srgbClr val="FF0000"/>
                </a:solidFill>
              </a:rPr>
              <a:t>IP:10.113.4.73/26</a:t>
            </a:r>
          </a:p>
        </p:txBody>
      </p:sp>
      <p:sp>
        <p:nvSpPr>
          <p:cNvPr id="4160" name="Rectangle 95"/>
          <p:cNvSpPr>
            <a:spLocks noChangeArrowheads="1"/>
          </p:cNvSpPr>
          <p:nvPr/>
        </p:nvSpPr>
        <p:spPr bwMode="auto">
          <a:xfrm>
            <a:off x="6936926" y="6050259"/>
            <a:ext cx="16902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rgbClr val="FF0000"/>
                </a:solidFill>
              </a:rPr>
              <a:t>管理</a:t>
            </a:r>
            <a:r>
              <a:rPr lang="en-US" altLang="zh-CN" sz="1200" dirty="0">
                <a:solidFill>
                  <a:srgbClr val="FF0000"/>
                </a:solidFill>
              </a:rPr>
              <a:t>IP:10.113.4.74/26</a:t>
            </a:r>
          </a:p>
        </p:txBody>
      </p:sp>
      <p:sp>
        <p:nvSpPr>
          <p:cNvPr id="4161" name="Rectangle 96"/>
          <p:cNvSpPr>
            <a:spLocks noChangeArrowheads="1"/>
          </p:cNvSpPr>
          <p:nvPr/>
        </p:nvSpPr>
        <p:spPr bwMode="auto">
          <a:xfrm>
            <a:off x="8666022" y="6026152"/>
            <a:ext cx="18184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rgbClr val="FF0000"/>
                </a:solidFill>
              </a:rPr>
              <a:t>管理</a:t>
            </a:r>
            <a:r>
              <a:rPr lang="en-US" altLang="zh-CN" sz="1200" dirty="0">
                <a:solidFill>
                  <a:srgbClr val="FF0000"/>
                </a:solidFill>
              </a:rPr>
              <a:t>IP:10.113.4.75/26</a:t>
            </a:r>
          </a:p>
        </p:txBody>
      </p:sp>
      <p:sp>
        <p:nvSpPr>
          <p:cNvPr id="4165" name="Text Box 100"/>
          <p:cNvSpPr txBox="1">
            <a:spLocks noChangeArrowheads="1"/>
          </p:cNvSpPr>
          <p:nvPr/>
        </p:nvSpPr>
        <p:spPr bwMode="auto">
          <a:xfrm>
            <a:off x="4058656" y="2160923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1/2/0/1</a:t>
            </a:r>
            <a:endParaRPr lang="en-US" altLang="zh-CN" sz="1000" dirty="0"/>
          </a:p>
        </p:txBody>
      </p:sp>
      <p:sp>
        <p:nvSpPr>
          <p:cNvPr id="109" name="Text Box 122"/>
          <p:cNvSpPr txBox="1">
            <a:spLocks noChangeArrowheads="1"/>
          </p:cNvSpPr>
          <p:nvPr/>
        </p:nvSpPr>
        <p:spPr bwMode="auto">
          <a:xfrm>
            <a:off x="5149513" y="1162158"/>
            <a:ext cx="2459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</a:rPr>
              <a:t>GZZY-S12708-A-B</a:t>
            </a:r>
          </a:p>
        </p:txBody>
      </p:sp>
      <p:sp>
        <p:nvSpPr>
          <p:cNvPr id="110" name="Text Box 100"/>
          <p:cNvSpPr txBox="1">
            <a:spLocks noChangeArrowheads="1"/>
          </p:cNvSpPr>
          <p:nvPr/>
        </p:nvSpPr>
        <p:spPr bwMode="auto">
          <a:xfrm>
            <a:off x="4309483" y="2693802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1/2/0/2</a:t>
            </a:r>
            <a:endParaRPr lang="en-US" altLang="zh-CN" sz="1000" dirty="0"/>
          </a:p>
        </p:txBody>
      </p:sp>
      <p:sp>
        <p:nvSpPr>
          <p:cNvPr id="111" name="Text Box 100"/>
          <p:cNvSpPr txBox="1">
            <a:spLocks noChangeArrowheads="1"/>
          </p:cNvSpPr>
          <p:nvPr/>
        </p:nvSpPr>
        <p:spPr bwMode="auto">
          <a:xfrm>
            <a:off x="4893390" y="2489015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1/2/0/3</a:t>
            </a:r>
            <a:endParaRPr lang="en-US" altLang="zh-CN" sz="1000" dirty="0"/>
          </a:p>
        </p:txBody>
      </p:sp>
      <p:sp>
        <p:nvSpPr>
          <p:cNvPr id="112" name="Text Box 100"/>
          <p:cNvSpPr txBox="1">
            <a:spLocks noChangeArrowheads="1"/>
          </p:cNvSpPr>
          <p:nvPr/>
        </p:nvSpPr>
        <p:spPr bwMode="auto">
          <a:xfrm>
            <a:off x="5098759" y="2244136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1/2/0/4</a:t>
            </a:r>
            <a:endParaRPr lang="en-US" altLang="zh-CN" sz="1000" dirty="0"/>
          </a:p>
        </p:txBody>
      </p:sp>
      <p:sp>
        <p:nvSpPr>
          <p:cNvPr id="113" name="Text Box 100"/>
          <p:cNvSpPr txBox="1">
            <a:spLocks noChangeArrowheads="1"/>
          </p:cNvSpPr>
          <p:nvPr/>
        </p:nvSpPr>
        <p:spPr bwMode="auto">
          <a:xfrm>
            <a:off x="5427083" y="2012555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1/2/0/5</a:t>
            </a:r>
            <a:endParaRPr lang="en-US" altLang="zh-CN" sz="1000" dirty="0"/>
          </a:p>
        </p:txBody>
      </p:sp>
      <p:sp>
        <p:nvSpPr>
          <p:cNvPr id="114" name="Text Box 100"/>
          <p:cNvSpPr txBox="1">
            <a:spLocks noChangeArrowheads="1"/>
          </p:cNvSpPr>
          <p:nvPr/>
        </p:nvSpPr>
        <p:spPr bwMode="auto">
          <a:xfrm>
            <a:off x="6354182" y="2066106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2/2/0/1</a:t>
            </a:r>
            <a:endParaRPr lang="en-US" altLang="zh-CN" sz="1000" dirty="0"/>
          </a:p>
        </p:txBody>
      </p:sp>
      <p:sp>
        <p:nvSpPr>
          <p:cNvPr id="115" name="Text Box 100"/>
          <p:cNvSpPr txBox="1">
            <a:spLocks noChangeArrowheads="1"/>
          </p:cNvSpPr>
          <p:nvPr/>
        </p:nvSpPr>
        <p:spPr bwMode="auto">
          <a:xfrm>
            <a:off x="6414777" y="2437196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2/2/0/2</a:t>
            </a:r>
            <a:endParaRPr lang="en-US" altLang="zh-CN" sz="1000" dirty="0"/>
          </a:p>
        </p:txBody>
      </p:sp>
      <p:sp>
        <p:nvSpPr>
          <p:cNvPr id="116" name="Text Box 100"/>
          <p:cNvSpPr txBox="1">
            <a:spLocks noChangeArrowheads="1"/>
          </p:cNvSpPr>
          <p:nvPr/>
        </p:nvSpPr>
        <p:spPr bwMode="auto">
          <a:xfrm>
            <a:off x="6821403" y="2710892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2/2/0/3</a:t>
            </a:r>
            <a:endParaRPr lang="en-US" altLang="zh-CN" sz="1000" dirty="0"/>
          </a:p>
        </p:txBody>
      </p:sp>
      <p:sp>
        <p:nvSpPr>
          <p:cNvPr id="117" name="Text Box 100"/>
          <p:cNvSpPr txBox="1">
            <a:spLocks noChangeArrowheads="1"/>
          </p:cNvSpPr>
          <p:nvPr/>
        </p:nvSpPr>
        <p:spPr bwMode="auto">
          <a:xfrm>
            <a:off x="7268873" y="2464671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2/2/0/4</a:t>
            </a:r>
            <a:endParaRPr lang="en-US" altLang="zh-CN" sz="1000" dirty="0"/>
          </a:p>
        </p:txBody>
      </p:sp>
      <p:sp>
        <p:nvSpPr>
          <p:cNvPr id="118" name="Text Box 100"/>
          <p:cNvSpPr txBox="1">
            <a:spLocks noChangeArrowheads="1"/>
          </p:cNvSpPr>
          <p:nvPr/>
        </p:nvSpPr>
        <p:spPr bwMode="auto">
          <a:xfrm>
            <a:off x="7725465" y="2150342"/>
            <a:ext cx="981657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2/2/0/5</a:t>
            </a:r>
            <a:endParaRPr lang="en-US" altLang="zh-CN" sz="1000" dirty="0"/>
          </a:p>
        </p:txBody>
      </p:sp>
      <p:sp>
        <p:nvSpPr>
          <p:cNvPr id="119" name="Line 146"/>
          <p:cNvSpPr>
            <a:spLocks noChangeShapeType="1"/>
          </p:cNvSpPr>
          <p:nvPr/>
        </p:nvSpPr>
        <p:spPr bwMode="auto">
          <a:xfrm>
            <a:off x="5202451" y="1757111"/>
            <a:ext cx="2303462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0" name="Picture 460" descr="图片23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43858" y="1428072"/>
            <a:ext cx="728230" cy="755738"/>
          </a:xfrm>
          <a:prstGeom prst="rect">
            <a:avLst/>
          </a:prstGeom>
          <a:noFill/>
        </p:spPr>
      </p:pic>
      <p:pic>
        <p:nvPicPr>
          <p:cNvPr id="121" name="Picture 460" descr="图片23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0424" y="1433336"/>
            <a:ext cx="731421" cy="7504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002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Line 58"/>
          <p:cNvSpPr>
            <a:spLocks noChangeShapeType="1"/>
          </p:cNvSpPr>
          <p:nvPr/>
        </p:nvSpPr>
        <p:spPr bwMode="auto">
          <a:xfrm>
            <a:off x="5528028" y="1812059"/>
            <a:ext cx="3122000" cy="82292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" name="Line 58"/>
          <p:cNvSpPr>
            <a:spLocks noChangeShapeType="1"/>
          </p:cNvSpPr>
          <p:nvPr/>
        </p:nvSpPr>
        <p:spPr bwMode="auto">
          <a:xfrm>
            <a:off x="7353620" y="1856074"/>
            <a:ext cx="1261134" cy="710392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6" name="Text Box 133"/>
          <p:cNvSpPr txBox="1">
            <a:spLocks noChangeArrowheads="1"/>
          </p:cNvSpPr>
          <p:nvPr/>
        </p:nvSpPr>
        <p:spPr bwMode="auto">
          <a:xfrm>
            <a:off x="4580648" y="955686"/>
            <a:ext cx="792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000" b="1" dirty="0"/>
              <a:t> </a:t>
            </a:r>
          </a:p>
        </p:txBody>
      </p:sp>
      <p:sp>
        <p:nvSpPr>
          <p:cNvPr id="5142" name="Text Box 216"/>
          <p:cNvSpPr txBox="1">
            <a:spLocks noChangeArrowheads="1"/>
          </p:cNvSpPr>
          <p:nvPr/>
        </p:nvSpPr>
        <p:spPr bwMode="auto">
          <a:xfrm>
            <a:off x="2865195" y="3988499"/>
            <a:ext cx="18755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400" b="1" dirty="0">
                <a:solidFill>
                  <a:srgbClr val="FF0000"/>
                </a:solidFill>
              </a:rPr>
              <a:t>GZZY-USG6000_01</a:t>
            </a:r>
          </a:p>
        </p:txBody>
      </p:sp>
      <p:sp>
        <p:nvSpPr>
          <p:cNvPr id="5144" name="Line 58"/>
          <p:cNvSpPr>
            <a:spLocks noChangeShapeType="1"/>
          </p:cNvSpPr>
          <p:nvPr/>
        </p:nvSpPr>
        <p:spPr bwMode="auto">
          <a:xfrm flipH="1">
            <a:off x="5416063" y="4290646"/>
            <a:ext cx="141588" cy="1125416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5" name="Line 58"/>
          <p:cNvSpPr>
            <a:spLocks noChangeShapeType="1"/>
          </p:cNvSpPr>
          <p:nvPr/>
        </p:nvSpPr>
        <p:spPr bwMode="auto">
          <a:xfrm>
            <a:off x="5880295" y="4220308"/>
            <a:ext cx="1151799" cy="122665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7" name="Text Box 58"/>
          <p:cNvSpPr txBox="1">
            <a:spLocks noChangeArrowheads="1"/>
          </p:cNvSpPr>
          <p:nvPr/>
        </p:nvSpPr>
        <p:spPr bwMode="auto">
          <a:xfrm>
            <a:off x="6177673" y="5340105"/>
            <a:ext cx="9334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2/2/0/0</a:t>
            </a:r>
            <a:endParaRPr lang="en-US" altLang="zh-CN" sz="1000" b="1" dirty="0">
              <a:solidFill>
                <a:srgbClr val="0000FF"/>
              </a:solidFill>
            </a:endParaRPr>
          </a:p>
        </p:txBody>
      </p:sp>
      <p:sp>
        <p:nvSpPr>
          <p:cNvPr id="5160" name="Text Box 61"/>
          <p:cNvSpPr txBox="1">
            <a:spLocks noChangeArrowheads="1"/>
          </p:cNvSpPr>
          <p:nvPr/>
        </p:nvSpPr>
        <p:spPr bwMode="auto">
          <a:xfrm>
            <a:off x="3002685" y="4356863"/>
            <a:ext cx="158657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>
                <a:solidFill>
                  <a:srgbClr val="0000FF"/>
                </a:solidFill>
              </a:rPr>
              <a:t>Vlan130:10.113.4.27/29</a:t>
            </a:r>
          </a:p>
        </p:txBody>
      </p:sp>
      <p:sp>
        <p:nvSpPr>
          <p:cNvPr id="5161" name="Text Box 63"/>
          <p:cNvSpPr txBox="1">
            <a:spLocks noChangeArrowheads="1"/>
          </p:cNvSpPr>
          <p:nvPr/>
        </p:nvSpPr>
        <p:spPr bwMode="auto">
          <a:xfrm>
            <a:off x="10103493" y="4129962"/>
            <a:ext cx="154948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strike="sngStrike" dirty="0">
                <a:solidFill>
                  <a:srgbClr val="0000FF"/>
                </a:solidFill>
              </a:rPr>
              <a:t>Vlan140:10.113.4.36/29</a:t>
            </a:r>
          </a:p>
        </p:txBody>
      </p:sp>
      <p:sp>
        <p:nvSpPr>
          <p:cNvPr id="5162" name="Text Box 64"/>
          <p:cNvSpPr txBox="1">
            <a:spLocks noChangeArrowheads="1"/>
          </p:cNvSpPr>
          <p:nvPr/>
        </p:nvSpPr>
        <p:spPr bwMode="auto">
          <a:xfrm>
            <a:off x="4622239" y="5211477"/>
            <a:ext cx="10261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1000" b="1" dirty="0"/>
              <a:t>XG 1/2/0/0</a:t>
            </a:r>
            <a:endParaRPr lang="en-US" altLang="zh-CN" sz="1000" b="1" dirty="0">
              <a:solidFill>
                <a:srgbClr val="0000FF"/>
              </a:solidFill>
            </a:endParaRPr>
          </a:p>
        </p:txBody>
      </p:sp>
      <p:sp>
        <p:nvSpPr>
          <p:cNvPr id="5163" name="Text Box 65"/>
          <p:cNvSpPr txBox="1">
            <a:spLocks noChangeArrowheads="1"/>
          </p:cNvSpPr>
          <p:nvPr/>
        </p:nvSpPr>
        <p:spPr bwMode="auto">
          <a:xfrm>
            <a:off x="3235808" y="5485833"/>
            <a:ext cx="16541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1000" b="1" dirty="0">
                <a:solidFill>
                  <a:srgbClr val="0000FF"/>
                </a:solidFill>
              </a:rPr>
              <a:t>Vlan130:10.113.4.28/29</a:t>
            </a:r>
          </a:p>
        </p:txBody>
      </p:sp>
      <p:sp>
        <p:nvSpPr>
          <p:cNvPr id="65" name="Text Box 241"/>
          <p:cNvSpPr txBox="1">
            <a:spLocks noChangeArrowheads="1"/>
          </p:cNvSpPr>
          <p:nvPr/>
        </p:nvSpPr>
        <p:spPr bwMode="auto">
          <a:xfrm>
            <a:off x="2732353" y="175323"/>
            <a:ext cx="733282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贵州中烟工业公司网络</a:t>
            </a:r>
            <a:r>
              <a:rPr lang="en-US" altLang="zh-CN" sz="3600" dirty="0"/>
              <a:t>-</a:t>
            </a:r>
            <a:r>
              <a:rPr lang="zh-CN" altLang="en-US" sz="2000" b="1"/>
              <a:t>服务器 区</a:t>
            </a:r>
            <a:endParaRPr lang="zh-CN" altLang="en-US" sz="2000" b="1" dirty="0"/>
          </a:p>
        </p:txBody>
      </p:sp>
      <p:sp>
        <p:nvSpPr>
          <p:cNvPr id="66" name="Line 146"/>
          <p:cNvSpPr>
            <a:spLocks noChangeShapeType="1"/>
          </p:cNvSpPr>
          <p:nvPr/>
        </p:nvSpPr>
        <p:spPr bwMode="auto">
          <a:xfrm>
            <a:off x="5377320" y="5843794"/>
            <a:ext cx="1485042" cy="20204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7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7212" y="5419146"/>
            <a:ext cx="728230" cy="755738"/>
          </a:xfrm>
          <a:prstGeom prst="rect">
            <a:avLst/>
          </a:prstGeom>
          <a:noFill/>
        </p:spPr>
      </p:pic>
      <p:pic>
        <p:nvPicPr>
          <p:cNvPr id="68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114" y="5437636"/>
            <a:ext cx="731421" cy="750474"/>
          </a:xfrm>
          <a:prstGeom prst="rect">
            <a:avLst/>
          </a:prstGeom>
          <a:noFill/>
        </p:spPr>
      </p:pic>
      <p:sp>
        <p:nvSpPr>
          <p:cNvPr id="69" name="Text Box 122"/>
          <p:cNvSpPr txBox="1">
            <a:spLocks noChangeArrowheads="1"/>
          </p:cNvSpPr>
          <p:nvPr/>
        </p:nvSpPr>
        <p:spPr bwMode="auto">
          <a:xfrm>
            <a:off x="3061249" y="5700127"/>
            <a:ext cx="2459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</a:rPr>
              <a:t>GZZY-S12708-A-B</a:t>
            </a:r>
          </a:p>
        </p:txBody>
      </p:sp>
      <p:sp>
        <p:nvSpPr>
          <p:cNvPr id="2" name="椭圆 1"/>
          <p:cNvSpPr/>
          <p:nvPr/>
        </p:nvSpPr>
        <p:spPr bwMode="auto">
          <a:xfrm>
            <a:off x="5130466" y="3569488"/>
            <a:ext cx="1141782" cy="26067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03493" y="4352980"/>
            <a:ext cx="15552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FontTx/>
              <a:buNone/>
              <a:defRPr sz="1000" b="1">
                <a:solidFill>
                  <a:srgbClr val="0000FF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  <a:defRPr sz="2400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strike="sngStrike" dirty="0"/>
              <a:t>Vlan140:10.113.4.37/29</a:t>
            </a:r>
            <a:endParaRPr lang="zh-CN" altLang="en-US" strike="sngStrike" dirty="0"/>
          </a:p>
        </p:txBody>
      </p:sp>
      <p:sp>
        <p:nvSpPr>
          <p:cNvPr id="4" name="文本框 3"/>
          <p:cNvSpPr txBox="1"/>
          <p:nvPr/>
        </p:nvSpPr>
        <p:spPr>
          <a:xfrm>
            <a:off x="4845483" y="4279143"/>
            <a:ext cx="95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G 2/0/9</a:t>
            </a:r>
            <a:endParaRPr lang="zh-CN" altLang="en-US" sz="1000" b="1" dirty="0"/>
          </a:p>
        </p:txBody>
      </p:sp>
      <p:sp>
        <p:nvSpPr>
          <p:cNvPr id="74" name="文本框 73"/>
          <p:cNvSpPr txBox="1"/>
          <p:nvPr/>
        </p:nvSpPr>
        <p:spPr>
          <a:xfrm>
            <a:off x="5528028" y="4306607"/>
            <a:ext cx="95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G 3/0/9</a:t>
            </a:r>
            <a:endParaRPr lang="zh-CN" altLang="en-US" sz="1000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5241570" y="4901431"/>
            <a:ext cx="988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Eth-Trunk1</a:t>
            </a:r>
            <a:endParaRPr lang="zh-CN" altLang="en-US" sz="1200" b="1" dirty="0"/>
          </a:p>
        </p:txBody>
      </p:sp>
      <p:pic>
        <p:nvPicPr>
          <p:cNvPr id="77" name="Picture 459" descr="图片23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73805" y="2795168"/>
            <a:ext cx="422469" cy="445328"/>
          </a:xfrm>
          <a:prstGeom prst="rect">
            <a:avLst/>
          </a:prstGeom>
          <a:noFill/>
        </p:spPr>
      </p:pic>
      <p:pic>
        <p:nvPicPr>
          <p:cNvPr id="78" name="Picture 459" descr="图片23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39893" y="2846777"/>
            <a:ext cx="422469" cy="445328"/>
          </a:xfrm>
          <a:prstGeom prst="rect">
            <a:avLst/>
          </a:prstGeom>
          <a:noFill/>
        </p:spPr>
      </p:pic>
      <p:sp>
        <p:nvSpPr>
          <p:cNvPr id="79" name="Line 58"/>
          <p:cNvSpPr>
            <a:spLocks noChangeShapeType="1"/>
          </p:cNvSpPr>
          <p:nvPr/>
        </p:nvSpPr>
        <p:spPr bwMode="auto">
          <a:xfrm flipH="1">
            <a:off x="5444197" y="3152775"/>
            <a:ext cx="266041" cy="969059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58"/>
          <p:cNvSpPr>
            <a:spLocks noChangeShapeType="1"/>
          </p:cNvSpPr>
          <p:nvPr/>
        </p:nvSpPr>
        <p:spPr bwMode="auto">
          <a:xfrm flipH="1">
            <a:off x="5852160" y="3250471"/>
            <a:ext cx="764827" cy="786957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椭圆 80"/>
          <p:cNvSpPr/>
          <p:nvPr/>
        </p:nvSpPr>
        <p:spPr bwMode="auto">
          <a:xfrm>
            <a:off x="4645851" y="4884474"/>
            <a:ext cx="1833977" cy="27321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2" name="Line 146"/>
          <p:cNvSpPr>
            <a:spLocks noChangeShapeType="1"/>
          </p:cNvSpPr>
          <p:nvPr/>
        </p:nvSpPr>
        <p:spPr bwMode="auto">
          <a:xfrm>
            <a:off x="5972384" y="3062745"/>
            <a:ext cx="524150" cy="6696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3" name="Picture 461" descr="图片24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0262" y="1441308"/>
            <a:ext cx="339336" cy="354852"/>
          </a:xfrm>
          <a:prstGeom prst="rect">
            <a:avLst/>
          </a:prstGeom>
          <a:noFill/>
        </p:spPr>
      </p:pic>
      <p:pic>
        <p:nvPicPr>
          <p:cNvPr id="84" name="Picture 461" descr="图片24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85899" y="1478706"/>
            <a:ext cx="339336" cy="354852"/>
          </a:xfrm>
          <a:prstGeom prst="rect">
            <a:avLst/>
          </a:prstGeom>
          <a:noFill/>
        </p:spPr>
      </p:pic>
      <p:pic>
        <p:nvPicPr>
          <p:cNvPr id="85" name="Picture 461" descr="图片24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71773" y="1484581"/>
            <a:ext cx="339336" cy="354852"/>
          </a:xfrm>
          <a:prstGeom prst="rect">
            <a:avLst/>
          </a:prstGeom>
          <a:noFill/>
        </p:spPr>
      </p:pic>
      <p:sp>
        <p:nvSpPr>
          <p:cNvPr id="89" name="文本框 88"/>
          <p:cNvSpPr txBox="1"/>
          <p:nvPr/>
        </p:nvSpPr>
        <p:spPr>
          <a:xfrm>
            <a:off x="4809981" y="3897110"/>
            <a:ext cx="95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G 2/0/8</a:t>
            </a:r>
            <a:endParaRPr lang="zh-CN" altLang="en-US" sz="1000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5651864" y="3853091"/>
            <a:ext cx="95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G 3/0/8</a:t>
            </a:r>
            <a:endParaRPr lang="zh-CN" altLang="en-US" sz="10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622361" y="2913234"/>
            <a:ext cx="2005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GZZY_CE6810_01_02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322942" y="3570302"/>
            <a:ext cx="1040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Eth-Trunk2</a:t>
            </a:r>
            <a:endParaRPr lang="zh-CN" altLang="en-US" sz="1000" b="1" dirty="0"/>
          </a:p>
        </p:txBody>
      </p:sp>
      <p:sp>
        <p:nvSpPr>
          <p:cNvPr id="93" name="Line 58"/>
          <p:cNvSpPr>
            <a:spLocks noChangeShapeType="1"/>
          </p:cNvSpPr>
          <p:nvPr/>
        </p:nvSpPr>
        <p:spPr bwMode="auto">
          <a:xfrm>
            <a:off x="4889930" y="1796160"/>
            <a:ext cx="855166" cy="106781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Line 58"/>
          <p:cNvSpPr>
            <a:spLocks noChangeShapeType="1"/>
          </p:cNvSpPr>
          <p:nvPr/>
        </p:nvSpPr>
        <p:spPr bwMode="auto">
          <a:xfrm>
            <a:off x="5176625" y="1827802"/>
            <a:ext cx="568471" cy="961592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Line 58"/>
          <p:cNvSpPr>
            <a:spLocks noChangeShapeType="1"/>
          </p:cNvSpPr>
          <p:nvPr/>
        </p:nvSpPr>
        <p:spPr bwMode="auto">
          <a:xfrm>
            <a:off x="5442261" y="1796160"/>
            <a:ext cx="419862" cy="102325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Line 58"/>
          <p:cNvSpPr>
            <a:spLocks noChangeShapeType="1"/>
          </p:cNvSpPr>
          <p:nvPr/>
        </p:nvSpPr>
        <p:spPr bwMode="auto">
          <a:xfrm flipH="1">
            <a:off x="6556919" y="1796160"/>
            <a:ext cx="148859" cy="1086895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Line 58"/>
          <p:cNvSpPr>
            <a:spLocks noChangeShapeType="1"/>
          </p:cNvSpPr>
          <p:nvPr/>
        </p:nvSpPr>
        <p:spPr bwMode="auto">
          <a:xfrm flipH="1">
            <a:off x="6586007" y="1860812"/>
            <a:ext cx="326384" cy="1016783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Line 58"/>
          <p:cNvSpPr>
            <a:spLocks noChangeShapeType="1"/>
          </p:cNvSpPr>
          <p:nvPr/>
        </p:nvSpPr>
        <p:spPr bwMode="auto">
          <a:xfrm flipH="1">
            <a:off x="6652901" y="1893269"/>
            <a:ext cx="502805" cy="984437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椭圆 98"/>
          <p:cNvSpPr/>
          <p:nvPr/>
        </p:nvSpPr>
        <p:spPr bwMode="auto">
          <a:xfrm>
            <a:off x="4963593" y="2202495"/>
            <a:ext cx="1001979" cy="14475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0" name="椭圆 99"/>
          <p:cNvSpPr/>
          <p:nvPr/>
        </p:nvSpPr>
        <p:spPr bwMode="auto">
          <a:xfrm>
            <a:off x="6213187" y="2202495"/>
            <a:ext cx="1001979" cy="19810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01" name="Picture 461" descr="图片24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71792" y="1509909"/>
            <a:ext cx="339336" cy="354852"/>
          </a:xfrm>
          <a:prstGeom prst="rect">
            <a:avLst/>
          </a:prstGeom>
          <a:noFill/>
        </p:spPr>
      </p:pic>
      <p:pic>
        <p:nvPicPr>
          <p:cNvPr id="102" name="Picture 461" descr="图片24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7429" y="1547307"/>
            <a:ext cx="339336" cy="354852"/>
          </a:xfrm>
          <a:prstGeom prst="rect">
            <a:avLst/>
          </a:prstGeom>
          <a:noFill/>
        </p:spPr>
      </p:pic>
      <p:pic>
        <p:nvPicPr>
          <p:cNvPr id="103" name="Picture 461" descr="图片24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23303" y="1553182"/>
            <a:ext cx="339336" cy="354852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976783" y="1102754"/>
            <a:ext cx="21194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GZZY_S5700_1_2_3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14460" y="1103168"/>
            <a:ext cx="23792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GZZY_S5700_4_5_6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5000579" y="2300927"/>
            <a:ext cx="1040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Eth-Trunk 3</a:t>
            </a:r>
            <a:endParaRPr lang="zh-CN" altLang="en-US" sz="12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6277780" y="2289467"/>
            <a:ext cx="10405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Eth-Trunk 6</a:t>
            </a:r>
            <a:endParaRPr lang="zh-CN" altLang="en-US" sz="1200" b="1" dirty="0"/>
          </a:p>
        </p:txBody>
      </p:sp>
      <p:sp>
        <p:nvSpPr>
          <p:cNvPr id="108" name="Text Box 65"/>
          <p:cNvSpPr txBox="1">
            <a:spLocks noChangeArrowheads="1"/>
          </p:cNvSpPr>
          <p:nvPr/>
        </p:nvSpPr>
        <p:spPr bwMode="auto">
          <a:xfrm>
            <a:off x="3359876" y="3243023"/>
            <a:ext cx="16541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1000" b="1" dirty="0">
                <a:solidFill>
                  <a:srgbClr val="0000FF"/>
                </a:solidFill>
              </a:rPr>
              <a:t>Vlan130:10.113.4.29/29</a:t>
            </a:r>
          </a:p>
        </p:txBody>
      </p:sp>
      <p:sp>
        <p:nvSpPr>
          <p:cNvPr id="109" name="Line 58"/>
          <p:cNvSpPr>
            <a:spLocks noChangeShapeType="1"/>
          </p:cNvSpPr>
          <p:nvPr/>
        </p:nvSpPr>
        <p:spPr bwMode="auto">
          <a:xfrm>
            <a:off x="4889930" y="1781724"/>
            <a:ext cx="1645930" cy="1078454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Line 58"/>
          <p:cNvSpPr>
            <a:spLocks noChangeShapeType="1"/>
          </p:cNvSpPr>
          <p:nvPr/>
        </p:nvSpPr>
        <p:spPr bwMode="auto">
          <a:xfrm>
            <a:off x="5456886" y="1838136"/>
            <a:ext cx="1078973" cy="98121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Line 58"/>
          <p:cNvSpPr>
            <a:spLocks noChangeShapeType="1"/>
          </p:cNvSpPr>
          <p:nvPr/>
        </p:nvSpPr>
        <p:spPr bwMode="auto">
          <a:xfrm>
            <a:off x="5175362" y="1827802"/>
            <a:ext cx="1322097" cy="991544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Line 58"/>
          <p:cNvSpPr>
            <a:spLocks noChangeShapeType="1"/>
          </p:cNvSpPr>
          <p:nvPr/>
        </p:nvSpPr>
        <p:spPr bwMode="auto">
          <a:xfrm flipH="1">
            <a:off x="5766470" y="1807338"/>
            <a:ext cx="939058" cy="1012009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Line 58"/>
          <p:cNvSpPr>
            <a:spLocks noChangeShapeType="1"/>
          </p:cNvSpPr>
          <p:nvPr/>
        </p:nvSpPr>
        <p:spPr bwMode="auto">
          <a:xfrm flipH="1">
            <a:off x="5847745" y="1830659"/>
            <a:ext cx="1077598" cy="96071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Line 58"/>
          <p:cNvSpPr>
            <a:spLocks noChangeShapeType="1"/>
          </p:cNvSpPr>
          <p:nvPr/>
        </p:nvSpPr>
        <p:spPr bwMode="auto">
          <a:xfrm flipH="1">
            <a:off x="5934558" y="1848308"/>
            <a:ext cx="1190007" cy="904116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953473" y="3246127"/>
            <a:ext cx="792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en-US" altLang="zh-CN" sz="900" dirty="0"/>
              <a:t>10GE1/0/7</a:t>
            </a:r>
            <a:endParaRPr lang="zh-CN" altLang="en-US" sz="900" dirty="0"/>
          </a:p>
        </p:txBody>
      </p:sp>
      <p:sp>
        <p:nvSpPr>
          <p:cNvPr id="116" name="文本框 115"/>
          <p:cNvSpPr txBox="1"/>
          <p:nvPr/>
        </p:nvSpPr>
        <p:spPr>
          <a:xfrm>
            <a:off x="5602492" y="3253010"/>
            <a:ext cx="792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en-US" altLang="zh-CN" sz="900"/>
              <a:t>10GE1/0/8</a:t>
            </a:r>
            <a:endParaRPr lang="zh-CN" altLang="en-US" sz="900" dirty="0"/>
          </a:p>
        </p:txBody>
      </p:sp>
      <p:sp>
        <p:nvSpPr>
          <p:cNvPr id="10" name="文本框 9"/>
          <p:cNvSpPr txBox="1"/>
          <p:nvPr/>
        </p:nvSpPr>
        <p:spPr>
          <a:xfrm>
            <a:off x="9322561" y="3076688"/>
            <a:ext cx="272690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</a:rPr>
              <a:t>服务器区业务网关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r>
              <a:rPr lang="en-US" altLang="zh-CN" sz="1600" b="1" dirty="0">
                <a:solidFill>
                  <a:srgbClr val="FF0000"/>
                </a:solidFill>
              </a:rPr>
              <a:t>Vlan10  : 10.113.0.254/24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Vlan120: 10.113.6.254/26</a:t>
            </a:r>
          </a:p>
          <a:p>
            <a:r>
              <a:rPr lang="en-US" altLang="zh-CN" sz="1600" b="1" dirty="0">
                <a:solidFill>
                  <a:srgbClr val="FF0000"/>
                </a:solidFill>
              </a:rPr>
              <a:t>Vlan253:10.113.253.254/24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47678" y="1843217"/>
            <a:ext cx="25008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solidFill>
                  <a:srgbClr val="FF0000"/>
                </a:solidFill>
              </a:rPr>
              <a:t>Vlan</a:t>
            </a:r>
            <a:r>
              <a:rPr lang="en-US" altLang="zh-CN" sz="1600" b="1" dirty="0">
                <a:solidFill>
                  <a:srgbClr val="FF0000"/>
                </a:solidFill>
              </a:rPr>
              <a:t> 10: 10.113.0.248/24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90980" y="1849035"/>
            <a:ext cx="2478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>
                <a:solidFill>
                  <a:srgbClr val="FF0000"/>
                </a:solidFill>
              </a:rPr>
              <a:t>Vlan</a:t>
            </a:r>
            <a:r>
              <a:rPr lang="en-US" altLang="zh-CN" dirty="0"/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10:10.113.0.246/24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9376404" y="3032267"/>
            <a:ext cx="2573280" cy="84546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4399517" y="2672783"/>
            <a:ext cx="1333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en-US" altLang="zh-CN" dirty="0"/>
              <a:t>10GE1/0/1,2,3,4,5,6</a:t>
            </a:r>
            <a:endParaRPr lang="zh-CN" altLang="en-US" dirty="0"/>
          </a:p>
        </p:txBody>
      </p:sp>
      <p:sp>
        <p:nvSpPr>
          <p:cNvPr id="118" name="文本框 117"/>
          <p:cNvSpPr txBox="1"/>
          <p:nvPr/>
        </p:nvSpPr>
        <p:spPr>
          <a:xfrm>
            <a:off x="6628759" y="2700350"/>
            <a:ext cx="13334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en-US" altLang="zh-CN" dirty="0"/>
              <a:t>10GE2/0/1,2,3,4,5,6</a:t>
            </a:r>
            <a:endParaRPr lang="zh-CN" altLang="en-US" dirty="0"/>
          </a:p>
        </p:txBody>
      </p:sp>
      <p:sp>
        <p:nvSpPr>
          <p:cNvPr id="119" name="Line 146"/>
          <p:cNvSpPr>
            <a:spLocks noChangeShapeType="1"/>
          </p:cNvSpPr>
          <p:nvPr/>
        </p:nvSpPr>
        <p:spPr bwMode="auto">
          <a:xfrm>
            <a:off x="5922103" y="5804927"/>
            <a:ext cx="894425" cy="24234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0" name="Picture 509" descr="防火墙0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790" y="3960269"/>
            <a:ext cx="704150" cy="39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509" descr="防火墙0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387" y="3971992"/>
            <a:ext cx="704150" cy="391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Line 58"/>
          <p:cNvSpPr>
            <a:spLocks noChangeShapeType="1"/>
          </p:cNvSpPr>
          <p:nvPr/>
        </p:nvSpPr>
        <p:spPr bwMode="auto">
          <a:xfrm flipH="1">
            <a:off x="5683348" y="4262511"/>
            <a:ext cx="759655" cy="1223889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58"/>
          <p:cNvSpPr>
            <a:spLocks noChangeShapeType="1"/>
          </p:cNvSpPr>
          <p:nvPr/>
        </p:nvSpPr>
        <p:spPr bwMode="auto">
          <a:xfrm>
            <a:off x="6879101" y="4262511"/>
            <a:ext cx="393896" cy="1223889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146"/>
          <p:cNvSpPr>
            <a:spLocks noChangeShapeType="1"/>
          </p:cNvSpPr>
          <p:nvPr/>
        </p:nvSpPr>
        <p:spPr bwMode="auto">
          <a:xfrm>
            <a:off x="5984107" y="4143613"/>
            <a:ext cx="524150" cy="6696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58"/>
          <p:cNvSpPr>
            <a:spLocks noChangeShapeType="1"/>
          </p:cNvSpPr>
          <p:nvPr/>
        </p:nvSpPr>
        <p:spPr bwMode="auto">
          <a:xfrm>
            <a:off x="6043612" y="3186112"/>
            <a:ext cx="523874" cy="866775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Line 58"/>
          <p:cNvSpPr>
            <a:spLocks noChangeShapeType="1"/>
          </p:cNvSpPr>
          <p:nvPr/>
        </p:nvSpPr>
        <p:spPr bwMode="auto">
          <a:xfrm>
            <a:off x="6834186" y="3248026"/>
            <a:ext cx="45719" cy="78105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椭圆 103"/>
          <p:cNvSpPr/>
          <p:nvPr/>
        </p:nvSpPr>
        <p:spPr bwMode="auto">
          <a:xfrm>
            <a:off x="6159166" y="3513926"/>
            <a:ext cx="1141782" cy="26067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05" name="文本框 91"/>
          <p:cNvSpPr txBox="1"/>
          <p:nvPr/>
        </p:nvSpPr>
        <p:spPr>
          <a:xfrm>
            <a:off x="6413554" y="3506803"/>
            <a:ext cx="1040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Eth-Trunk1</a:t>
            </a:r>
            <a:endParaRPr lang="zh-CN" altLang="en-US" sz="1000" b="1" dirty="0"/>
          </a:p>
        </p:txBody>
      </p:sp>
      <p:sp>
        <p:nvSpPr>
          <p:cNvPr id="115" name="文本框 75"/>
          <p:cNvSpPr txBox="1"/>
          <p:nvPr/>
        </p:nvSpPr>
        <p:spPr>
          <a:xfrm>
            <a:off x="6694132" y="4691881"/>
            <a:ext cx="9889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Eth-Trunk3</a:t>
            </a:r>
            <a:endParaRPr lang="zh-CN" altLang="en-US" sz="1200" b="1" dirty="0"/>
          </a:p>
        </p:txBody>
      </p:sp>
      <p:sp>
        <p:nvSpPr>
          <p:cNvPr id="120" name="椭圆 119"/>
          <p:cNvSpPr/>
          <p:nvPr/>
        </p:nvSpPr>
        <p:spPr bwMode="auto">
          <a:xfrm>
            <a:off x="6098413" y="4674924"/>
            <a:ext cx="1833977" cy="27321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noFill/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1" name="Text Box 58"/>
          <p:cNvSpPr txBox="1">
            <a:spLocks noChangeArrowheads="1"/>
          </p:cNvSpPr>
          <p:nvPr/>
        </p:nvSpPr>
        <p:spPr bwMode="auto">
          <a:xfrm>
            <a:off x="5534735" y="5221042"/>
            <a:ext cx="9334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1/2/0/6</a:t>
            </a:r>
            <a:endParaRPr lang="en-US" altLang="zh-CN" sz="1000" b="1" dirty="0">
              <a:solidFill>
                <a:srgbClr val="0000FF"/>
              </a:solidFill>
            </a:endParaRPr>
          </a:p>
        </p:txBody>
      </p:sp>
      <p:sp>
        <p:nvSpPr>
          <p:cNvPr id="122" name="Text Box 58"/>
          <p:cNvSpPr txBox="1">
            <a:spLocks noChangeArrowheads="1"/>
          </p:cNvSpPr>
          <p:nvPr/>
        </p:nvSpPr>
        <p:spPr bwMode="auto">
          <a:xfrm>
            <a:off x="7196848" y="5235329"/>
            <a:ext cx="93345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XG 2/2/0/6</a:t>
            </a:r>
            <a:endParaRPr lang="en-US" altLang="zh-CN" sz="1000" b="1" dirty="0">
              <a:solidFill>
                <a:srgbClr val="0000FF"/>
              </a:solidFill>
            </a:endParaRPr>
          </a:p>
        </p:txBody>
      </p:sp>
      <p:sp>
        <p:nvSpPr>
          <p:cNvPr id="123" name="Text Box 216"/>
          <p:cNvSpPr txBox="1">
            <a:spLocks noChangeArrowheads="1"/>
          </p:cNvSpPr>
          <p:nvPr/>
        </p:nvSpPr>
        <p:spPr bwMode="auto">
          <a:xfrm>
            <a:off x="7137158" y="4064700"/>
            <a:ext cx="18755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400" b="1" dirty="0">
                <a:solidFill>
                  <a:srgbClr val="FF0000"/>
                </a:solidFill>
              </a:rPr>
              <a:t>GZZY-USG6000_02</a:t>
            </a:r>
          </a:p>
        </p:txBody>
      </p:sp>
      <p:sp>
        <p:nvSpPr>
          <p:cNvPr id="124" name="文本框 115"/>
          <p:cNvSpPr txBox="1"/>
          <p:nvPr/>
        </p:nvSpPr>
        <p:spPr>
          <a:xfrm>
            <a:off x="6931229" y="3176810"/>
            <a:ext cx="792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en-US" altLang="zh-CN" sz="900" dirty="0"/>
              <a:t>10GE2/0/7</a:t>
            </a:r>
            <a:endParaRPr lang="zh-CN" altLang="en-US" sz="900" dirty="0"/>
          </a:p>
        </p:txBody>
      </p:sp>
      <p:sp>
        <p:nvSpPr>
          <p:cNvPr id="125" name="文本框 115"/>
          <p:cNvSpPr txBox="1"/>
          <p:nvPr/>
        </p:nvSpPr>
        <p:spPr>
          <a:xfrm>
            <a:off x="6245429" y="3219672"/>
            <a:ext cx="7922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000" b="1"/>
            </a:lvl1pPr>
          </a:lstStyle>
          <a:p>
            <a:r>
              <a:rPr lang="en-US" altLang="zh-CN" sz="900" dirty="0"/>
              <a:t>10GE2/0/7</a:t>
            </a:r>
            <a:endParaRPr lang="zh-CN" altLang="en-US" sz="900" dirty="0"/>
          </a:p>
        </p:txBody>
      </p:sp>
      <p:sp>
        <p:nvSpPr>
          <p:cNvPr id="86" name="Text Box 65"/>
          <p:cNvSpPr txBox="1">
            <a:spLocks noChangeArrowheads="1"/>
          </p:cNvSpPr>
          <p:nvPr/>
        </p:nvSpPr>
        <p:spPr bwMode="auto">
          <a:xfrm>
            <a:off x="7893533" y="4342833"/>
            <a:ext cx="16541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1000" b="1" dirty="0">
                <a:solidFill>
                  <a:srgbClr val="0000FF"/>
                </a:solidFill>
              </a:rPr>
              <a:t>Vlan131:10.113.4.2/29</a:t>
            </a:r>
          </a:p>
        </p:txBody>
      </p:sp>
      <p:sp>
        <p:nvSpPr>
          <p:cNvPr id="126" name="Text Box 65"/>
          <p:cNvSpPr txBox="1">
            <a:spLocks noChangeArrowheads="1"/>
          </p:cNvSpPr>
          <p:nvPr/>
        </p:nvSpPr>
        <p:spPr bwMode="auto">
          <a:xfrm>
            <a:off x="7884008" y="5133408"/>
            <a:ext cx="16541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1000" b="1" dirty="0">
                <a:solidFill>
                  <a:srgbClr val="0000FF"/>
                </a:solidFill>
              </a:rPr>
              <a:t>Vlan131:10.113.4.1/29</a:t>
            </a:r>
          </a:p>
        </p:txBody>
      </p:sp>
      <p:sp>
        <p:nvSpPr>
          <p:cNvPr id="127" name="Text Box 65"/>
          <p:cNvSpPr txBox="1">
            <a:spLocks noChangeArrowheads="1"/>
          </p:cNvSpPr>
          <p:nvPr/>
        </p:nvSpPr>
        <p:spPr bwMode="auto">
          <a:xfrm>
            <a:off x="7455383" y="3314133"/>
            <a:ext cx="165412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1000" b="1" dirty="0">
                <a:solidFill>
                  <a:srgbClr val="0000FF"/>
                </a:solidFill>
              </a:rPr>
              <a:t>Vlan131:10.113.4.3/29</a:t>
            </a:r>
          </a:p>
        </p:txBody>
      </p:sp>
      <p:sp>
        <p:nvSpPr>
          <p:cNvPr id="128" name="文本框 88"/>
          <p:cNvSpPr txBox="1"/>
          <p:nvPr/>
        </p:nvSpPr>
        <p:spPr>
          <a:xfrm>
            <a:off x="6191106" y="3839960"/>
            <a:ext cx="95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G 2/0/8</a:t>
            </a:r>
            <a:endParaRPr lang="zh-CN" altLang="en-US" sz="1000" b="1" dirty="0"/>
          </a:p>
        </p:txBody>
      </p:sp>
      <p:sp>
        <p:nvSpPr>
          <p:cNvPr id="129" name="文本框 89"/>
          <p:cNvSpPr txBox="1"/>
          <p:nvPr/>
        </p:nvSpPr>
        <p:spPr>
          <a:xfrm>
            <a:off x="6756764" y="3786416"/>
            <a:ext cx="95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G 3/0/8</a:t>
            </a:r>
            <a:endParaRPr lang="zh-CN" altLang="en-US" sz="1000" b="1" dirty="0"/>
          </a:p>
        </p:txBody>
      </p:sp>
      <p:sp>
        <p:nvSpPr>
          <p:cNvPr id="130" name="文本框 3"/>
          <p:cNvSpPr txBox="1"/>
          <p:nvPr/>
        </p:nvSpPr>
        <p:spPr>
          <a:xfrm>
            <a:off x="6064683" y="4288668"/>
            <a:ext cx="95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G 2/0/9</a:t>
            </a:r>
            <a:endParaRPr lang="zh-CN" altLang="en-US" sz="1000" b="1" dirty="0"/>
          </a:p>
        </p:txBody>
      </p:sp>
      <p:sp>
        <p:nvSpPr>
          <p:cNvPr id="131" name="文本框 73"/>
          <p:cNvSpPr txBox="1"/>
          <p:nvPr/>
        </p:nvSpPr>
        <p:spPr>
          <a:xfrm>
            <a:off x="6804378" y="4297082"/>
            <a:ext cx="9553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G 3/0/9</a:t>
            </a:r>
            <a:endParaRPr lang="zh-CN" altLang="en-US" sz="1000" b="1" dirty="0"/>
          </a:p>
        </p:txBody>
      </p:sp>
      <p:sp>
        <p:nvSpPr>
          <p:cNvPr id="133" name="文本框 73"/>
          <p:cNvSpPr txBox="1"/>
          <p:nvPr/>
        </p:nvSpPr>
        <p:spPr>
          <a:xfrm>
            <a:off x="5928078" y="4049432"/>
            <a:ext cx="6536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G 1/0/0</a:t>
            </a:r>
            <a:endParaRPr lang="zh-CN" altLang="en-US" sz="800" b="1" dirty="0"/>
          </a:p>
        </p:txBody>
      </p:sp>
      <p:pic>
        <p:nvPicPr>
          <p:cNvPr id="132" name="Picture 1939" descr="图片68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05137" y="1300690"/>
            <a:ext cx="350772" cy="560122"/>
          </a:xfrm>
          <a:prstGeom prst="rect">
            <a:avLst/>
          </a:prstGeom>
          <a:noFill/>
        </p:spPr>
      </p:pic>
      <p:sp>
        <p:nvSpPr>
          <p:cNvPr id="134" name="Line 58"/>
          <p:cNvSpPr>
            <a:spLocks noChangeShapeType="1"/>
          </p:cNvSpPr>
          <p:nvPr/>
        </p:nvSpPr>
        <p:spPr bwMode="auto">
          <a:xfrm flipV="1">
            <a:off x="3576968" y="1650388"/>
            <a:ext cx="1143294" cy="1041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" name="Line 58"/>
          <p:cNvSpPr>
            <a:spLocks noChangeShapeType="1"/>
          </p:cNvSpPr>
          <p:nvPr/>
        </p:nvSpPr>
        <p:spPr bwMode="auto">
          <a:xfrm flipV="1">
            <a:off x="7461334" y="1763165"/>
            <a:ext cx="1153419" cy="944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6" name="Picture 1939" descr="图片68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614753" y="1398148"/>
            <a:ext cx="350772" cy="560122"/>
          </a:xfrm>
          <a:prstGeom prst="rect">
            <a:avLst/>
          </a:prstGeom>
          <a:noFill/>
        </p:spPr>
      </p:pic>
      <p:sp>
        <p:nvSpPr>
          <p:cNvPr id="137" name="TextBox 165"/>
          <p:cNvSpPr txBox="1"/>
          <p:nvPr/>
        </p:nvSpPr>
        <p:spPr>
          <a:xfrm>
            <a:off x="8986584" y="950469"/>
            <a:ext cx="115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启明星辰数据库审计 </a:t>
            </a:r>
            <a:r>
              <a:rPr lang="en-US" altLang="zh-CN" sz="1200" b="1" dirty="0"/>
              <a:t>10.113.0.252</a:t>
            </a:r>
            <a:endParaRPr lang="zh-CN" altLang="en-US" sz="1200" b="1" dirty="0"/>
          </a:p>
        </p:txBody>
      </p:sp>
      <p:sp>
        <p:nvSpPr>
          <p:cNvPr id="138" name="TextBox 165"/>
          <p:cNvSpPr txBox="1"/>
          <p:nvPr/>
        </p:nvSpPr>
        <p:spPr>
          <a:xfrm>
            <a:off x="2075258" y="977524"/>
            <a:ext cx="115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启明星辰数据库审计 </a:t>
            </a:r>
            <a:r>
              <a:rPr lang="en-US" altLang="zh-CN" sz="1200" b="1" dirty="0"/>
              <a:t>10.113.0.252</a:t>
            </a:r>
            <a:endParaRPr lang="zh-CN" altLang="en-US" sz="1200" b="1" dirty="0"/>
          </a:p>
        </p:txBody>
      </p:sp>
      <p:pic>
        <p:nvPicPr>
          <p:cNvPr id="139" name="Picture 459" descr="图片23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15875" y="2454453"/>
            <a:ext cx="422469" cy="445328"/>
          </a:xfrm>
          <a:prstGeom prst="rect">
            <a:avLst/>
          </a:prstGeom>
          <a:noFill/>
        </p:spPr>
      </p:pic>
      <p:sp>
        <p:nvSpPr>
          <p:cNvPr id="141" name="Text Box 216"/>
          <p:cNvSpPr txBox="1">
            <a:spLocks noChangeArrowheads="1"/>
          </p:cNvSpPr>
          <p:nvPr/>
        </p:nvSpPr>
        <p:spPr bwMode="auto">
          <a:xfrm>
            <a:off x="9038344" y="2417441"/>
            <a:ext cx="18755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400" b="1" dirty="0">
                <a:solidFill>
                  <a:srgbClr val="FF0000"/>
                </a:solidFill>
              </a:rPr>
              <a:t>LSW6600(</a:t>
            </a:r>
            <a:r>
              <a:rPr lang="zh-CN" altLang="en-US" sz="1400" b="1" dirty="0">
                <a:solidFill>
                  <a:srgbClr val="FF0000"/>
                </a:solidFill>
              </a:rPr>
              <a:t>迪普万兆交换机</a:t>
            </a:r>
            <a:r>
              <a:rPr lang="en-US" altLang="zh-CN" sz="1400" b="1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143" name="直接连接符 142"/>
          <p:cNvCxnSpPr/>
          <p:nvPr/>
        </p:nvCxnSpPr>
        <p:spPr bwMode="auto">
          <a:xfrm>
            <a:off x="9263556" y="7296785"/>
            <a:ext cx="5131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4" name="直接连接符 143"/>
          <p:cNvCxnSpPr/>
          <p:nvPr/>
        </p:nvCxnSpPr>
        <p:spPr bwMode="auto">
          <a:xfrm>
            <a:off x="9275991" y="7495837"/>
            <a:ext cx="5131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直接连接符 144"/>
          <p:cNvCxnSpPr/>
          <p:nvPr/>
        </p:nvCxnSpPr>
        <p:spPr bwMode="auto">
          <a:xfrm>
            <a:off x="9269764" y="7676229"/>
            <a:ext cx="51318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6" name="TextBox 251"/>
          <p:cNvSpPr txBox="1"/>
          <p:nvPr/>
        </p:nvSpPr>
        <p:spPr>
          <a:xfrm>
            <a:off x="9879379" y="7175486"/>
            <a:ext cx="148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10GG</a:t>
            </a:r>
            <a:r>
              <a:rPr lang="zh-CN" altLang="en-US" sz="1200" dirty="0"/>
              <a:t>光纤</a:t>
            </a:r>
            <a:endParaRPr lang="en-US" altLang="zh-CN" sz="1200" dirty="0"/>
          </a:p>
          <a:p>
            <a:r>
              <a:rPr lang="en-US" altLang="zh-CN" sz="1200" dirty="0"/>
              <a:t>GE</a:t>
            </a:r>
            <a:r>
              <a:rPr lang="zh-CN" altLang="en-US" sz="1200" dirty="0"/>
              <a:t>网线</a:t>
            </a:r>
            <a:endParaRPr lang="en-US" altLang="zh-CN" sz="1200" dirty="0"/>
          </a:p>
          <a:p>
            <a:r>
              <a:rPr lang="en-US" altLang="zh-CN" sz="1200" dirty="0"/>
              <a:t>GE</a:t>
            </a:r>
            <a:r>
              <a:rPr lang="zh-CN" altLang="en-US" sz="1200" dirty="0"/>
              <a:t>网线（管理口）</a:t>
            </a:r>
          </a:p>
        </p:txBody>
      </p:sp>
      <p:pic>
        <p:nvPicPr>
          <p:cNvPr id="148" name="Picture 459" descr="图片23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390596" y="5726226"/>
            <a:ext cx="422469" cy="445328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149" name="矩形 148"/>
          <p:cNvSpPr/>
          <p:nvPr/>
        </p:nvSpPr>
        <p:spPr bwMode="auto">
          <a:xfrm>
            <a:off x="9493959" y="5088386"/>
            <a:ext cx="2338169" cy="17951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150" name="Picture 1939" descr="图片68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481421" y="5524663"/>
            <a:ext cx="252455" cy="403127"/>
          </a:xfrm>
          <a:prstGeom prst="rect">
            <a:avLst/>
          </a:prstGeom>
          <a:noFill/>
        </p:spPr>
      </p:pic>
      <p:pic>
        <p:nvPicPr>
          <p:cNvPr id="151" name="Picture 1939" descr="图片68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1461638" y="6341134"/>
            <a:ext cx="252455" cy="403127"/>
          </a:xfrm>
          <a:prstGeom prst="rect">
            <a:avLst/>
          </a:prstGeom>
          <a:noFill/>
        </p:spPr>
      </p:pic>
      <p:sp>
        <p:nvSpPr>
          <p:cNvPr id="152" name="TextBox 151"/>
          <p:cNvSpPr txBox="1"/>
          <p:nvPr/>
        </p:nvSpPr>
        <p:spPr>
          <a:xfrm>
            <a:off x="9801984" y="6314530"/>
            <a:ext cx="1037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1200" b="1" dirty="0"/>
              <a:t>DMZ</a:t>
            </a:r>
            <a:r>
              <a:rPr lang="zh-CN" altLang="en-US" sz="1200" b="1" dirty="0"/>
              <a:t>区</a:t>
            </a:r>
            <a:endParaRPr lang="en-US" altLang="zh-CN" sz="1200" b="1" dirty="0"/>
          </a:p>
        </p:txBody>
      </p:sp>
      <p:cxnSp>
        <p:nvCxnSpPr>
          <p:cNvPr id="153" name="直接连接符 152"/>
          <p:cNvCxnSpPr/>
          <p:nvPr/>
        </p:nvCxnSpPr>
        <p:spPr bwMode="auto">
          <a:xfrm flipV="1">
            <a:off x="10782958" y="5719447"/>
            <a:ext cx="797801" cy="1097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4" name="直接连接符 153"/>
          <p:cNvCxnSpPr/>
          <p:nvPr/>
        </p:nvCxnSpPr>
        <p:spPr bwMode="auto">
          <a:xfrm>
            <a:off x="10837823" y="6060185"/>
            <a:ext cx="599057" cy="44053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55" name="Picture 465" descr="图片15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536787" y="5747891"/>
            <a:ext cx="355536" cy="367588"/>
          </a:xfrm>
          <a:prstGeom prst="rect">
            <a:avLst/>
          </a:prstGeom>
          <a:noFill/>
        </p:spPr>
      </p:pic>
      <p:sp>
        <p:nvSpPr>
          <p:cNvPr id="157" name="Line 58"/>
          <p:cNvSpPr>
            <a:spLocks noChangeShapeType="1"/>
          </p:cNvSpPr>
          <p:nvPr/>
        </p:nvSpPr>
        <p:spPr bwMode="auto">
          <a:xfrm>
            <a:off x="7523857" y="5797015"/>
            <a:ext cx="3105984" cy="14846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" name="Line 58"/>
          <p:cNvSpPr>
            <a:spLocks noChangeShapeType="1"/>
          </p:cNvSpPr>
          <p:nvPr/>
        </p:nvSpPr>
        <p:spPr bwMode="auto">
          <a:xfrm>
            <a:off x="6032695" y="4372708"/>
            <a:ext cx="1151799" cy="1226658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213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41"/>
          <p:cNvSpPr txBox="1">
            <a:spLocks noChangeArrowheads="1"/>
          </p:cNvSpPr>
          <p:nvPr/>
        </p:nvSpPr>
        <p:spPr bwMode="auto">
          <a:xfrm>
            <a:off x="3509346" y="180628"/>
            <a:ext cx="57419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sz="2400" b="1" dirty="0"/>
              <a:t>贵州中烟工业公司网络</a:t>
            </a:r>
            <a:r>
              <a:rPr lang="en-US" altLang="zh-CN" sz="2400" b="1" dirty="0"/>
              <a:t>-</a:t>
            </a:r>
            <a:r>
              <a:rPr lang="zh-CN" altLang="en-US" sz="2000" b="1" dirty="0"/>
              <a:t>国家局接入区</a:t>
            </a:r>
          </a:p>
        </p:txBody>
      </p:sp>
      <p:sp>
        <p:nvSpPr>
          <p:cNvPr id="7174" name="Line 517"/>
          <p:cNvSpPr>
            <a:spLocks noChangeShapeType="1"/>
          </p:cNvSpPr>
          <p:nvPr/>
        </p:nvSpPr>
        <p:spPr bwMode="auto">
          <a:xfrm flipV="1">
            <a:off x="4719638" y="1618809"/>
            <a:ext cx="3312000" cy="1146"/>
          </a:xfrm>
          <a:prstGeom prst="line">
            <a:avLst/>
          </a:prstGeom>
          <a:noFill/>
          <a:ln w="476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7175" name="Line 66"/>
          <p:cNvSpPr>
            <a:spLocks noChangeShapeType="1"/>
          </p:cNvSpPr>
          <p:nvPr/>
        </p:nvSpPr>
        <p:spPr bwMode="auto">
          <a:xfrm flipH="1">
            <a:off x="4295775" y="2060576"/>
            <a:ext cx="26988" cy="352901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8" name="Picture 534" descr="云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6" y="5555134"/>
            <a:ext cx="14414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4" name="Text Box 532"/>
          <p:cNvSpPr txBox="1">
            <a:spLocks noChangeArrowheads="1"/>
          </p:cNvSpPr>
          <p:nvPr/>
        </p:nvSpPr>
        <p:spPr bwMode="auto">
          <a:xfrm>
            <a:off x="3719513" y="5803900"/>
            <a:ext cx="14398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200" dirty="0"/>
              <a:t>移动线路接国家局</a:t>
            </a:r>
          </a:p>
        </p:txBody>
      </p:sp>
      <p:sp>
        <p:nvSpPr>
          <p:cNvPr id="7192" name="Text Box 185"/>
          <p:cNvSpPr txBox="1">
            <a:spLocks noChangeArrowheads="1"/>
          </p:cNvSpPr>
          <p:nvPr/>
        </p:nvSpPr>
        <p:spPr bwMode="auto">
          <a:xfrm>
            <a:off x="2542670" y="2270323"/>
            <a:ext cx="33633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400" b="1" dirty="0">
                <a:solidFill>
                  <a:srgbClr val="FF3300"/>
                </a:solidFill>
              </a:rPr>
              <a:t>（</a:t>
            </a:r>
            <a:r>
              <a:rPr lang="en-US" altLang="zh-CN" sz="1400" b="1" dirty="0">
                <a:solidFill>
                  <a:srgbClr val="FF3300"/>
                </a:solidFill>
              </a:rPr>
              <a:t>Vlan180</a:t>
            </a:r>
            <a:r>
              <a:rPr lang="zh-CN" altLang="en-US" sz="1400" b="1" dirty="0">
                <a:solidFill>
                  <a:srgbClr val="FF3300"/>
                </a:solidFill>
              </a:rPr>
              <a:t>）</a:t>
            </a:r>
            <a:r>
              <a:rPr lang="en-US" altLang="zh-CN" sz="1400" b="1" dirty="0">
                <a:solidFill>
                  <a:srgbClr val="FF3300"/>
                </a:solidFill>
              </a:rPr>
              <a:t>:10.113.4.57/30</a:t>
            </a:r>
          </a:p>
        </p:txBody>
      </p:sp>
      <p:sp>
        <p:nvSpPr>
          <p:cNvPr id="7193" name="Text Box 185"/>
          <p:cNvSpPr txBox="1">
            <a:spLocks noChangeArrowheads="1"/>
          </p:cNvSpPr>
          <p:nvPr/>
        </p:nvSpPr>
        <p:spPr bwMode="auto">
          <a:xfrm>
            <a:off x="7161688" y="2319105"/>
            <a:ext cx="293687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400" b="1" dirty="0">
                <a:solidFill>
                  <a:srgbClr val="FF3300"/>
                </a:solidFill>
              </a:rPr>
              <a:t>（</a:t>
            </a:r>
            <a:r>
              <a:rPr lang="en-US" altLang="zh-CN" sz="1400" b="1" dirty="0" err="1">
                <a:solidFill>
                  <a:srgbClr val="FF3300"/>
                </a:solidFill>
              </a:rPr>
              <a:t>Vlan</a:t>
            </a:r>
            <a:r>
              <a:rPr lang="en-US" altLang="zh-CN" sz="1400" b="1" dirty="0">
                <a:solidFill>
                  <a:srgbClr val="FF3300"/>
                </a:solidFill>
              </a:rPr>
              <a:t> 23</a:t>
            </a:r>
            <a:r>
              <a:rPr lang="zh-CN" altLang="en-US" sz="1400" b="1" dirty="0">
                <a:solidFill>
                  <a:srgbClr val="FF3300"/>
                </a:solidFill>
              </a:rPr>
              <a:t>）</a:t>
            </a:r>
            <a:r>
              <a:rPr lang="en-US" altLang="zh-CN" sz="1400" b="1" dirty="0">
                <a:solidFill>
                  <a:srgbClr val="FF3300"/>
                </a:solidFill>
              </a:rPr>
              <a:t>: 10.0.34.30/30</a:t>
            </a:r>
          </a:p>
        </p:txBody>
      </p:sp>
      <p:sp>
        <p:nvSpPr>
          <p:cNvPr id="7194" name="Text Box 29"/>
          <p:cNvSpPr txBox="1">
            <a:spLocks noChangeArrowheads="1"/>
          </p:cNvSpPr>
          <p:nvPr/>
        </p:nvSpPr>
        <p:spPr bwMode="auto">
          <a:xfrm>
            <a:off x="3549313" y="2013558"/>
            <a:ext cx="112591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100" dirty="0"/>
              <a:t>GE 1/1/0/1</a:t>
            </a:r>
            <a:endParaRPr lang="en-US" altLang="zh-CN" sz="1100" b="1" i="1" dirty="0">
              <a:solidFill>
                <a:srgbClr val="0000FF"/>
              </a:solidFill>
            </a:endParaRPr>
          </a:p>
        </p:txBody>
      </p:sp>
      <p:sp>
        <p:nvSpPr>
          <p:cNvPr id="7195" name="Text Box 30"/>
          <p:cNvSpPr txBox="1">
            <a:spLocks noChangeArrowheads="1"/>
          </p:cNvSpPr>
          <p:nvPr/>
        </p:nvSpPr>
        <p:spPr bwMode="auto">
          <a:xfrm>
            <a:off x="7763308" y="2065426"/>
            <a:ext cx="9060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GE 2/1/0/1</a:t>
            </a:r>
            <a:endParaRPr lang="en-US" altLang="zh-CN" sz="1000" b="1" dirty="0">
              <a:solidFill>
                <a:srgbClr val="0000FF"/>
              </a:solidFill>
            </a:endParaRPr>
          </a:p>
        </p:txBody>
      </p:sp>
      <p:sp>
        <p:nvSpPr>
          <p:cNvPr id="7198" name="Text Box 185"/>
          <p:cNvSpPr txBox="1">
            <a:spLocks noChangeArrowheads="1"/>
          </p:cNvSpPr>
          <p:nvPr/>
        </p:nvSpPr>
        <p:spPr bwMode="auto">
          <a:xfrm>
            <a:off x="4201031" y="5064470"/>
            <a:ext cx="1584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400" b="1" dirty="0">
                <a:solidFill>
                  <a:srgbClr val="FF3300"/>
                </a:solidFill>
              </a:rPr>
              <a:t>10.113.4.58/30</a:t>
            </a:r>
          </a:p>
        </p:txBody>
      </p:sp>
      <p:sp>
        <p:nvSpPr>
          <p:cNvPr id="7199" name="Text Box 185"/>
          <p:cNvSpPr txBox="1">
            <a:spLocks noChangeArrowheads="1"/>
          </p:cNvSpPr>
          <p:nvPr/>
        </p:nvSpPr>
        <p:spPr bwMode="auto">
          <a:xfrm>
            <a:off x="7837962" y="5061373"/>
            <a:ext cx="15843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400" b="1" dirty="0">
                <a:solidFill>
                  <a:srgbClr val="FF3300"/>
                </a:solidFill>
              </a:rPr>
              <a:t>10.0.34.29/30</a:t>
            </a:r>
          </a:p>
        </p:txBody>
      </p:sp>
      <p:sp>
        <p:nvSpPr>
          <p:cNvPr id="7206" name="Line 66"/>
          <p:cNvSpPr>
            <a:spLocks noChangeShapeType="1"/>
          </p:cNvSpPr>
          <p:nvPr/>
        </p:nvSpPr>
        <p:spPr bwMode="auto">
          <a:xfrm>
            <a:off x="8008361" y="2013558"/>
            <a:ext cx="20061" cy="3576031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5" name="Picture 534" descr="云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163" y="5590215"/>
            <a:ext cx="14414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689890" y="5796518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200" dirty="0"/>
              <a:t>联通线路接国家局</a:t>
            </a:r>
          </a:p>
        </p:txBody>
      </p:sp>
      <p:sp>
        <p:nvSpPr>
          <p:cNvPr id="48" name="Text Box 219"/>
          <p:cNvSpPr txBox="1">
            <a:spLocks noChangeArrowheads="1"/>
          </p:cNvSpPr>
          <p:nvPr/>
        </p:nvSpPr>
        <p:spPr bwMode="auto">
          <a:xfrm>
            <a:off x="5589308" y="1644889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链路堆叠</a:t>
            </a:r>
          </a:p>
        </p:txBody>
      </p:sp>
      <p:pic>
        <p:nvPicPr>
          <p:cNvPr id="50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8648" y="1300910"/>
            <a:ext cx="728230" cy="755738"/>
          </a:xfrm>
          <a:prstGeom prst="rect">
            <a:avLst/>
          </a:prstGeom>
          <a:noFill/>
        </p:spPr>
      </p:pic>
      <p:pic>
        <p:nvPicPr>
          <p:cNvPr id="51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68624" y="1295152"/>
            <a:ext cx="731421" cy="750474"/>
          </a:xfrm>
          <a:prstGeom prst="rect">
            <a:avLst/>
          </a:prstGeom>
          <a:noFill/>
        </p:spPr>
      </p:pic>
      <p:sp>
        <p:nvSpPr>
          <p:cNvPr id="52" name="矩形 51"/>
          <p:cNvSpPr/>
          <p:nvPr/>
        </p:nvSpPr>
        <p:spPr>
          <a:xfrm>
            <a:off x="5064825" y="1073941"/>
            <a:ext cx="2146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</a:rPr>
              <a:t>GZZY-S12708-A-B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6279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219"/>
          <p:cNvSpPr txBox="1">
            <a:spLocks noChangeArrowheads="1"/>
          </p:cNvSpPr>
          <p:nvPr/>
        </p:nvSpPr>
        <p:spPr bwMode="auto">
          <a:xfrm>
            <a:off x="5617370" y="1122231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链路堆叠</a:t>
            </a:r>
          </a:p>
        </p:txBody>
      </p:sp>
      <p:sp>
        <p:nvSpPr>
          <p:cNvPr id="8196" name="Line 517"/>
          <p:cNvSpPr>
            <a:spLocks noChangeShapeType="1"/>
          </p:cNvSpPr>
          <p:nvPr/>
        </p:nvSpPr>
        <p:spPr bwMode="auto">
          <a:xfrm>
            <a:off x="4866484" y="1129841"/>
            <a:ext cx="2778125" cy="24649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7" name="Line 66"/>
          <p:cNvSpPr>
            <a:spLocks noChangeShapeType="1"/>
          </p:cNvSpPr>
          <p:nvPr/>
        </p:nvSpPr>
        <p:spPr bwMode="auto">
          <a:xfrm flipH="1">
            <a:off x="4291014" y="1568450"/>
            <a:ext cx="31749" cy="95170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198" name="Picture 509" descr="防火墙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814" y="2505076"/>
            <a:ext cx="966787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Line 66"/>
          <p:cNvSpPr>
            <a:spLocks noChangeShapeType="1"/>
          </p:cNvSpPr>
          <p:nvPr/>
        </p:nvSpPr>
        <p:spPr bwMode="auto">
          <a:xfrm flipH="1">
            <a:off x="8110539" y="1557340"/>
            <a:ext cx="1586" cy="1000124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200" name="Picture 509" descr="防火墙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164" y="2505076"/>
            <a:ext cx="966787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1" name="Freeform 533"/>
          <p:cNvSpPr>
            <a:spLocks/>
          </p:cNvSpPr>
          <p:nvPr/>
        </p:nvSpPr>
        <p:spPr bwMode="auto">
          <a:xfrm>
            <a:off x="7608889" y="4689476"/>
            <a:ext cx="1082675" cy="657225"/>
          </a:xfrm>
          <a:custGeom>
            <a:avLst/>
            <a:gdLst>
              <a:gd name="T0" fmla="*/ 2147483646 w 2305"/>
              <a:gd name="T1" fmla="*/ 2147483646 h 1492"/>
              <a:gd name="T2" fmla="*/ 2147483646 w 2305"/>
              <a:gd name="T3" fmla="*/ 2147483646 h 1492"/>
              <a:gd name="T4" fmla="*/ 2147483646 w 2305"/>
              <a:gd name="T5" fmla="*/ 2147483646 h 1492"/>
              <a:gd name="T6" fmla="*/ 2147483646 w 2305"/>
              <a:gd name="T7" fmla="*/ 2147483646 h 1492"/>
              <a:gd name="T8" fmla="*/ 2147483646 w 2305"/>
              <a:gd name="T9" fmla="*/ 2147483646 h 1492"/>
              <a:gd name="T10" fmla="*/ 2147483646 w 2305"/>
              <a:gd name="T11" fmla="*/ 2147483646 h 1492"/>
              <a:gd name="T12" fmla="*/ 2147483646 w 2305"/>
              <a:gd name="T13" fmla="*/ 2147483646 h 1492"/>
              <a:gd name="T14" fmla="*/ 2147483646 w 2305"/>
              <a:gd name="T15" fmla="*/ 2147483646 h 1492"/>
              <a:gd name="T16" fmla="*/ 2147483646 w 2305"/>
              <a:gd name="T17" fmla="*/ 2147483646 h 1492"/>
              <a:gd name="T18" fmla="*/ 2147483646 w 2305"/>
              <a:gd name="T19" fmla="*/ 2147483646 h 1492"/>
              <a:gd name="T20" fmla="*/ 2147483646 w 2305"/>
              <a:gd name="T21" fmla="*/ 2147483646 h 1492"/>
              <a:gd name="T22" fmla="*/ 2147483646 w 2305"/>
              <a:gd name="T23" fmla="*/ 2147483646 h 1492"/>
              <a:gd name="T24" fmla="*/ 2147483646 w 2305"/>
              <a:gd name="T25" fmla="*/ 2147483646 h 1492"/>
              <a:gd name="T26" fmla="*/ 2147483646 w 2305"/>
              <a:gd name="T27" fmla="*/ 2147483646 h 1492"/>
              <a:gd name="T28" fmla="*/ 2147483646 w 2305"/>
              <a:gd name="T29" fmla="*/ 2147483646 h 1492"/>
              <a:gd name="T30" fmla="*/ 2147483646 w 2305"/>
              <a:gd name="T31" fmla="*/ 2147483646 h 1492"/>
              <a:gd name="T32" fmla="*/ 2147483646 w 2305"/>
              <a:gd name="T33" fmla="*/ 2147483646 h 1492"/>
              <a:gd name="T34" fmla="*/ 2147483646 w 2305"/>
              <a:gd name="T35" fmla="*/ 2147483646 h 1492"/>
              <a:gd name="T36" fmla="*/ 2147483646 w 2305"/>
              <a:gd name="T37" fmla="*/ 2147483646 h 1492"/>
              <a:gd name="T38" fmla="*/ 2147483646 w 2305"/>
              <a:gd name="T39" fmla="*/ 2147483646 h 1492"/>
              <a:gd name="T40" fmla="*/ 2147483646 w 2305"/>
              <a:gd name="T41" fmla="*/ 2147483646 h 1492"/>
              <a:gd name="T42" fmla="*/ 2147483646 w 2305"/>
              <a:gd name="T43" fmla="*/ 2147483646 h 1492"/>
              <a:gd name="T44" fmla="*/ 2147483646 w 2305"/>
              <a:gd name="T45" fmla="*/ 2147483646 h 1492"/>
              <a:gd name="T46" fmla="*/ 2147483646 w 2305"/>
              <a:gd name="T47" fmla="*/ 2147483646 h 1492"/>
              <a:gd name="T48" fmla="*/ 2147483646 w 2305"/>
              <a:gd name="T49" fmla="*/ 2147483646 h 1492"/>
              <a:gd name="T50" fmla="*/ 2147483646 w 2305"/>
              <a:gd name="T51" fmla="*/ 2147483646 h 1492"/>
              <a:gd name="T52" fmla="*/ 2147483646 w 2305"/>
              <a:gd name="T53" fmla="*/ 2147483646 h 1492"/>
              <a:gd name="T54" fmla="*/ 2147483646 w 2305"/>
              <a:gd name="T55" fmla="*/ 2147483646 h 1492"/>
              <a:gd name="T56" fmla="*/ 2147483646 w 2305"/>
              <a:gd name="T57" fmla="*/ 2147483646 h 1492"/>
              <a:gd name="T58" fmla="*/ 2147483646 w 2305"/>
              <a:gd name="T59" fmla="*/ 2147483646 h 1492"/>
              <a:gd name="T60" fmla="*/ 2147483646 w 2305"/>
              <a:gd name="T61" fmla="*/ 2147483646 h 1492"/>
              <a:gd name="T62" fmla="*/ 2147483646 w 2305"/>
              <a:gd name="T63" fmla="*/ 2147483646 h 1492"/>
              <a:gd name="T64" fmla="*/ 2147483646 w 2305"/>
              <a:gd name="T65" fmla="*/ 2147483646 h 1492"/>
              <a:gd name="T66" fmla="*/ 2147483646 w 2305"/>
              <a:gd name="T67" fmla="*/ 2147483646 h 1492"/>
              <a:gd name="T68" fmla="*/ 2147483646 w 2305"/>
              <a:gd name="T69" fmla="*/ 2147483646 h 1492"/>
              <a:gd name="T70" fmla="*/ 2147483646 w 2305"/>
              <a:gd name="T71" fmla="*/ 2147483646 h 1492"/>
              <a:gd name="T72" fmla="*/ 2147483646 w 2305"/>
              <a:gd name="T73" fmla="*/ 2147483646 h 1492"/>
              <a:gd name="T74" fmla="*/ 2147483646 w 2305"/>
              <a:gd name="T75" fmla="*/ 2147483646 h 1492"/>
              <a:gd name="T76" fmla="*/ 2147483646 w 2305"/>
              <a:gd name="T77" fmla="*/ 2147483646 h 1492"/>
              <a:gd name="T78" fmla="*/ 2147483646 w 2305"/>
              <a:gd name="T79" fmla="*/ 2147483646 h 1492"/>
              <a:gd name="T80" fmla="*/ 2147483646 w 2305"/>
              <a:gd name="T81" fmla="*/ 2147483646 h 1492"/>
              <a:gd name="T82" fmla="*/ 2147483646 w 2305"/>
              <a:gd name="T83" fmla="*/ 2147483646 h 1492"/>
              <a:gd name="T84" fmla="*/ 2147483646 w 2305"/>
              <a:gd name="T85" fmla="*/ 2147483646 h 1492"/>
              <a:gd name="T86" fmla="*/ 2147483646 w 2305"/>
              <a:gd name="T87" fmla="*/ 2147483646 h 1492"/>
              <a:gd name="T88" fmla="*/ 2147483646 w 2305"/>
              <a:gd name="T89" fmla="*/ 2147483646 h 1492"/>
              <a:gd name="T90" fmla="*/ 2147483646 w 2305"/>
              <a:gd name="T91" fmla="*/ 2147483646 h 1492"/>
              <a:gd name="T92" fmla="*/ 2147483646 w 2305"/>
              <a:gd name="T93" fmla="*/ 2147483646 h 1492"/>
              <a:gd name="T94" fmla="*/ 2147483646 w 2305"/>
              <a:gd name="T95" fmla="*/ 2147483646 h 1492"/>
              <a:gd name="T96" fmla="*/ 2147483646 w 2305"/>
              <a:gd name="T97" fmla="*/ 2147483646 h 1492"/>
              <a:gd name="T98" fmla="*/ 2147483646 w 2305"/>
              <a:gd name="T99" fmla="*/ 2147483646 h 1492"/>
              <a:gd name="T100" fmla="*/ 2147483646 w 2305"/>
              <a:gd name="T101" fmla="*/ 2147483646 h 1492"/>
              <a:gd name="T102" fmla="*/ 2147483646 w 2305"/>
              <a:gd name="T103" fmla="*/ 2147483646 h 1492"/>
              <a:gd name="T104" fmla="*/ 0 w 2305"/>
              <a:gd name="T105" fmla="*/ 2147483646 h 1492"/>
              <a:gd name="T106" fmla="*/ 2147483646 w 2305"/>
              <a:gd name="T107" fmla="*/ 2147483646 h 1492"/>
              <a:gd name="T108" fmla="*/ 2147483646 w 2305"/>
              <a:gd name="T109" fmla="*/ 2147483646 h 1492"/>
              <a:gd name="T110" fmla="*/ 2147483646 w 2305"/>
              <a:gd name="T111" fmla="*/ 2147483646 h 1492"/>
              <a:gd name="T112" fmla="*/ 2147483646 w 2305"/>
              <a:gd name="T113" fmla="*/ 2147483646 h 1492"/>
              <a:gd name="T114" fmla="*/ 2147483646 w 2305"/>
              <a:gd name="T115" fmla="*/ 2147483646 h 1492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w 2305"/>
              <a:gd name="T175" fmla="*/ 0 h 1492"/>
              <a:gd name="T176" fmla="*/ 2305 w 2305"/>
              <a:gd name="T177" fmla="*/ 1492 h 1492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T174" t="T175" r="T176" b="T177"/>
            <a:pathLst>
              <a:path w="2305" h="1492">
                <a:moveTo>
                  <a:pt x="366" y="354"/>
                </a:moveTo>
                <a:lnTo>
                  <a:pt x="384" y="313"/>
                </a:lnTo>
                <a:lnTo>
                  <a:pt x="414" y="271"/>
                </a:lnTo>
                <a:lnTo>
                  <a:pt x="457" y="237"/>
                </a:lnTo>
                <a:lnTo>
                  <a:pt x="517" y="209"/>
                </a:lnTo>
                <a:lnTo>
                  <a:pt x="563" y="194"/>
                </a:lnTo>
                <a:lnTo>
                  <a:pt x="622" y="180"/>
                </a:lnTo>
                <a:lnTo>
                  <a:pt x="711" y="173"/>
                </a:lnTo>
                <a:lnTo>
                  <a:pt x="797" y="180"/>
                </a:lnTo>
                <a:lnTo>
                  <a:pt x="878" y="197"/>
                </a:lnTo>
                <a:lnTo>
                  <a:pt x="937" y="218"/>
                </a:lnTo>
                <a:lnTo>
                  <a:pt x="972" y="149"/>
                </a:lnTo>
                <a:lnTo>
                  <a:pt x="1018" y="97"/>
                </a:lnTo>
                <a:lnTo>
                  <a:pt x="1077" y="54"/>
                </a:lnTo>
                <a:lnTo>
                  <a:pt x="1158" y="26"/>
                </a:lnTo>
                <a:lnTo>
                  <a:pt x="1256" y="2"/>
                </a:lnTo>
                <a:lnTo>
                  <a:pt x="1352" y="0"/>
                </a:lnTo>
                <a:lnTo>
                  <a:pt x="1439" y="11"/>
                </a:lnTo>
                <a:lnTo>
                  <a:pt x="1536" y="38"/>
                </a:lnTo>
                <a:lnTo>
                  <a:pt x="1608" y="85"/>
                </a:lnTo>
                <a:lnTo>
                  <a:pt x="1662" y="130"/>
                </a:lnTo>
                <a:lnTo>
                  <a:pt x="1694" y="175"/>
                </a:lnTo>
                <a:lnTo>
                  <a:pt x="1703" y="233"/>
                </a:lnTo>
                <a:lnTo>
                  <a:pt x="1770" y="214"/>
                </a:lnTo>
                <a:lnTo>
                  <a:pt x="1851" y="221"/>
                </a:lnTo>
                <a:lnTo>
                  <a:pt x="1915" y="237"/>
                </a:lnTo>
                <a:lnTo>
                  <a:pt x="1973" y="278"/>
                </a:lnTo>
                <a:lnTo>
                  <a:pt x="2015" y="330"/>
                </a:lnTo>
                <a:lnTo>
                  <a:pt x="2032" y="388"/>
                </a:lnTo>
                <a:lnTo>
                  <a:pt x="2029" y="429"/>
                </a:lnTo>
                <a:lnTo>
                  <a:pt x="2067" y="426"/>
                </a:lnTo>
                <a:lnTo>
                  <a:pt x="2115" y="436"/>
                </a:lnTo>
                <a:lnTo>
                  <a:pt x="2163" y="455"/>
                </a:lnTo>
                <a:lnTo>
                  <a:pt x="2201" y="479"/>
                </a:lnTo>
                <a:lnTo>
                  <a:pt x="2225" y="498"/>
                </a:lnTo>
                <a:lnTo>
                  <a:pt x="2250" y="524"/>
                </a:lnTo>
                <a:lnTo>
                  <a:pt x="2274" y="557"/>
                </a:lnTo>
                <a:lnTo>
                  <a:pt x="2288" y="598"/>
                </a:lnTo>
                <a:lnTo>
                  <a:pt x="2290" y="626"/>
                </a:lnTo>
                <a:lnTo>
                  <a:pt x="2282" y="659"/>
                </a:lnTo>
                <a:lnTo>
                  <a:pt x="2265" y="700"/>
                </a:lnTo>
                <a:lnTo>
                  <a:pt x="2288" y="740"/>
                </a:lnTo>
                <a:lnTo>
                  <a:pt x="2295" y="778"/>
                </a:lnTo>
                <a:lnTo>
                  <a:pt x="2300" y="819"/>
                </a:lnTo>
                <a:lnTo>
                  <a:pt x="2290" y="871"/>
                </a:lnTo>
                <a:lnTo>
                  <a:pt x="2282" y="900"/>
                </a:lnTo>
                <a:lnTo>
                  <a:pt x="2255" y="935"/>
                </a:lnTo>
                <a:lnTo>
                  <a:pt x="2290" y="988"/>
                </a:lnTo>
                <a:lnTo>
                  <a:pt x="2300" y="1018"/>
                </a:lnTo>
                <a:lnTo>
                  <a:pt x="2304" y="1066"/>
                </a:lnTo>
                <a:lnTo>
                  <a:pt x="2295" y="1111"/>
                </a:lnTo>
                <a:lnTo>
                  <a:pt x="2277" y="1162"/>
                </a:lnTo>
                <a:lnTo>
                  <a:pt x="2250" y="1198"/>
                </a:lnTo>
                <a:lnTo>
                  <a:pt x="2209" y="1234"/>
                </a:lnTo>
                <a:lnTo>
                  <a:pt x="2140" y="1267"/>
                </a:lnTo>
                <a:lnTo>
                  <a:pt x="2067" y="1279"/>
                </a:lnTo>
                <a:lnTo>
                  <a:pt x="2002" y="1269"/>
                </a:lnTo>
                <a:lnTo>
                  <a:pt x="1959" y="1250"/>
                </a:lnTo>
                <a:lnTo>
                  <a:pt x="1929" y="1286"/>
                </a:lnTo>
                <a:lnTo>
                  <a:pt x="1896" y="1315"/>
                </a:lnTo>
                <a:lnTo>
                  <a:pt x="1870" y="1334"/>
                </a:lnTo>
                <a:lnTo>
                  <a:pt x="1816" y="1357"/>
                </a:lnTo>
                <a:lnTo>
                  <a:pt x="1770" y="1374"/>
                </a:lnTo>
                <a:lnTo>
                  <a:pt x="1703" y="1386"/>
                </a:lnTo>
                <a:lnTo>
                  <a:pt x="1635" y="1383"/>
                </a:lnTo>
                <a:lnTo>
                  <a:pt x="1571" y="1367"/>
                </a:lnTo>
                <a:lnTo>
                  <a:pt x="1512" y="1338"/>
                </a:lnTo>
                <a:lnTo>
                  <a:pt x="1477" y="1388"/>
                </a:lnTo>
                <a:lnTo>
                  <a:pt x="1444" y="1417"/>
                </a:lnTo>
                <a:lnTo>
                  <a:pt x="1404" y="1441"/>
                </a:lnTo>
                <a:lnTo>
                  <a:pt x="1355" y="1460"/>
                </a:lnTo>
                <a:lnTo>
                  <a:pt x="1301" y="1469"/>
                </a:lnTo>
                <a:lnTo>
                  <a:pt x="1252" y="1469"/>
                </a:lnTo>
                <a:lnTo>
                  <a:pt x="1204" y="1460"/>
                </a:lnTo>
                <a:lnTo>
                  <a:pt x="1145" y="1433"/>
                </a:lnTo>
                <a:lnTo>
                  <a:pt x="1110" y="1410"/>
                </a:lnTo>
                <a:lnTo>
                  <a:pt x="1077" y="1441"/>
                </a:lnTo>
                <a:lnTo>
                  <a:pt x="1045" y="1460"/>
                </a:lnTo>
                <a:lnTo>
                  <a:pt x="1002" y="1476"/>
                </a:lnTo>
                <a:lnTo>
                  <a:pt x="943" y="1491"/>
                </a:lnTo>
                <a:lnTo>
                  <a:pt x="883" y="1486"/>
                </a:lnTo>
                <a:lnTo>
                  <a:pt x="819" y="1471"/>
                </a:lnTo>
                <a:lnTo>
                  <a:pt x="770" y="1448"/>
                </a:lnTo>
                <a:lnTo>
                  <a:pt x="725" y="1407"/>
                </a:lnTo>
                <a:lnTo>
                  <a:pt x="697" y="1367"/>
                </a:lnTo>
                <a:lnTo>
                  <a:pt x="649" y="1381"/>
                </a:lnTo>
                <a:lnTo>
                  <a:pt x="595" y="1391"/>
                </a:lnTo>
                <a:lnTo>
                  <a:pt x="530" y="1388"/>
                </a:lnTo>
                <a:lnTo>
                  <a:pt x="474" y="1369"/>
                </a:lnTo>
                <a:lnTo>
                  <a:pt x="428" y="1343"/>
                </a:lnTo>
                <a:lnTo>
                  <a:pt x="393" y="1315"/>
                </a:lnTo>
                <a:lnTo>
                  <a:pt x="363" y="1274"/>
                </a:lnTo>
                <a:lnTo>
                  <a:pt x="355" y="1234"/>
                </a:lnTo>
                <a:lnTo>
                  <a:pt x="325" y="1243"/>
                </a:lnTo>
                <a:lnTo>
                  <a:pt x="271" y="1246"/>
                </a:lnTo>
                <a:lnTo>
                  <a:pt x="212" y="1234"/>
                </a:lnTo>
                <a:lnTo>
                  <a:pt x="153" y="1205"/>
                </a:lnTo>
                <a:lnTo>
                  <a:pt x="113" y="1167"/>
                </a:lnTo>
                <a:lnTo>
                  <a:pt x="78" y="1118"/>
                </a:lnTo>
                <a:lnTo>
                  <a:pt x="59" y="1066"/>
                </a:lnTo>
                <a:lnTo>
                  <a:pt x="50" y="995"/>
                </a:lnTo>
                <a:lnTo>
                  <a:pt x="53" y="947"/>
                </a:lnTo>
                <a:lnTo>
                  <a:pt x="72" y="876"/>
                </a:lnTo>
                <a:lnTo>
                  <a:pt x="32" y="835"/>
                </a:lnTo>
                <a:lnTo>
                  <a:pt x="10" y="783"/>
                </a:lnTo>
                <a:lnTo>
                  <a:pt x="0" y="728"/>
                </a:lnTo>
                <a:lnTo>
                  <a:pt x="0" y="669"/>
                </a:lnTo>
                <a:lnTo>
                  <a:pt x="13" y="607"/>
                </a:lnTo>
                <a:lnTo>
                  <a:pt x="40" y="560"/>
                </a:lnTo>
                <a:lnTo>
                  <a:pt x="86" y="510"/>
                </a:lnTo>
                <a:lnTo>
                  <a:pt x="134" y="472"/>
                </a:lnTo>
                <a:lnTo>
                  <a:pt x="191" y="436"/>
                </a:lnTo>
                <a:lnTo>
                  <a:pt x="264" y="412"/>
                </a:lnTo>
                <a:lnTo>
                  <a:pt x="330" y="398"/>
                </a:lnTo>
                <a:lnTo>
                  <a:pt x="363" y="391"/>
                </a:lnTo>
                <a:lnTo>
                  <a:pt x="366" y="354"/>
                </a:lnTo>
              </a:path>
            </a:pathLst>
          </a:custGeom>
          <a:gradFill rotWithShape="1">
            <a:gsLst>
              <a:gs pos="0">
                <a:srgbClr val="679ACD">
                  <a:alpha val="70998"/>
                </a:srgbClr>
              </a:gs>
              <a:gs pos="100000">
                <a:srgbClr val="E5EBF7"/>
              </a:gs>
            </a:gsLst>
            <a:lin ang="18900000" scaled="1"/>
          </a:gradFill>
          <a:ln>
            <a:noFill/>
          </a:ln>
          <a:effectLst>
            <a:prstShdw prst="shdw17" dist="17961" dir="2700000">
              <a:srgbClr val="3E5C7B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202" name="Picture 534" descr="云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3" y="4616451"/>
            <a:ext cx="14414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Text Box 531"/>
          <p:cNvSpPr txBox="1">
            <a:spLocks noChangeArrowheads="1"/>
          </p:cNvSpPr>
          <p:nvPr/>
        </p:nvSpPr>
        <p:spPr bwMode="auto">
          <a:xfrm>
            <a:off x="3648076" y="4833939"/>
            <a:ext cx="14398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200"/>
              <a:t>电信线路接烟厂</a:t>
            </a:r>
          </a:p>
        </p:txBody>
      </p:sp>
      <p:sp>
        <p:nvSpPr>
          <p:cNvPr id="8204" name="Text Box 536"/>
          <p:cNvSpPr txBox="1">
            <a:spLocks noChangeArrowheads="1"/>
          </p:cNvSpPr>
          <p:nvPr/>
        </p:nvSpPr>
        <p:spPr bwMode="auto">
          <a:xfrm>
            <a:off x="7535864" y="4905375"/>
            <a:ext cx="12969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200"/>
              <a:t>联通线路接烟厂</a:t>
            </a:r>
          </a:p>
        </p:txBody>
      </p:sp>
      <p:sp>
        <p:nvSpPr>
          <p:cNvPr id="8205" name="Line 66"/>
          <p:cNvSpPr>
            <a:spLocks noChangeShapeType="1"/>
          </p:cNvSpPr>
          <p:nvPr/>
        </p:nvSpPr>
        <p:spPr bwMode="auto">
          <a:xfrm flipH="1">
            <a:off x="4367213" y="4359278"/>
            <a:ext cx="1800223" cy="33019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" name="Text Box 185"/>
          <p:cNvSpPr txBox="1">
            <a:spLocks noChangeArrowheads="1"/>
          </p:cNvSpPr>
          <p:nvPr/>
        </p:nvSpPr>
        <p:spPr bwMode="auto">
          <a:xfrm>
            <a:off x="4414712" y="2342831"/>
            <a:ext cx="13033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eaLnBrk="1" hangingPunct="1">
              <a:spcBef>
                <a:spcPct val="50000"/>
              </a:spcBef>
              <a:buFontTx/>
              <a:buNone/>
              <a:defRPr sz="1200">
                <a:solidFill>
                  <a:srgbClr val="FF3300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  <a:defRPr sz="2400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dirty="0"/>
              <a:t>10.113.4.41/29</a:t>
            </a:r>
          </a:p>
        </p:txBody>
      </p:sp>
      <p:sp>
        <p:nvSpPr>
          <p:cNvPr id="8207" name="Text Box 185"/>
          <p:cNvSpPr txBox="1">
            <a:spLocks noChangeArrowheads="1"/>
          </p:cNvSpPr>
          <p:nvPr/>
        </p:nvSpPr>
        <p:spPr bwMode="auto">
          <a:xfrm>
            <a:off x="8235447" y="2342357"/>
            <a:ext cx="12239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10.113.4.49/29</a:t>
            </a:r>
          </a:p>
        </p:txBody>
      </p:sp>
      <p:sp>
        <p:nvSpPr>
          <p:cNvPr id="8208" name="Text Box 185"/>
          <p:cNvSpPr txBox="1">
            <a:spLocks noChangeArrowheads="1"/>
          </p:cNvSpPr>
          <p:nvPr/>
        </p:nvSpPr>
        <p:spPr bwMode="auto">
          <a:xfrm>
            <a:off x="4517232" y="2576514"/>
            <a:ext cx="10874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200" dirty="0"/>
              <a:t>防火墙</a:t>
            </a:r>
          </a:p>
        </p:txBody>
      </p:sp>
      <p:sp>
        <p:nvSpPr>
          <p:cNvPr id="8209" name="Text Box 185"/>
          <p:cNvSpPr txBox="1">
            <a:spLocks noChangeArrowheads="1"/>
          </p:cNvSpPr>
          <p:nvPr/>
        </p:nvSpPr>
        <p:spPr bwMode="auto">
          <a:xfrm>
            <a:off x="6761163" y="2576514"/>
            <a:ext cx="108743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200" dirty="0"/>
              <a:t>防火墙</a:t>
            </a:r>
          </a:p>
        </p:txBody>
      </p:sp>
      <p:sp>
        <p:nvSpPr>
          <p:cNvPr id="8210" name="Rectangle 22"/>
          <p:cNvSpPr>
            <a:spLocks noChangeArrowheads="1"/>
          </p:cNvSpPr>
          <p:nvPr/>
        </p:nvSpPr>
        <p:spPr bwMode="auto">
          <a:xfrm>
            <a:off x="4048630" y="2147988"/>
            <a:ext cx="6030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/>
              <a:t>Eth2 </a:t>
            </a:r>
          </a:p>
        </p:txBody>
      </p:sp>
      <p:sp>
        <p:nvSpPr>
          <p:cNvPr id="8212" name="Rectangle 24"/>
          <p:cNvSpPr>
            <a:spLocks noChangeArrowheads="1"/>
          </p:cNvSpPr>
          <p:nvPr/>
        </p:nvSpPr>
        <p:spPr bwMode="auto">
          <a:xfrm>
            <a:off x="4125553" y="3081437"/>
            <a:ext cx="6030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/>
              <a:t>Eth3 </a:t>
            </a:r>
          </a:p>
        </p:txBody>
      </p:sp>
      <p:sp>
        <p:nvSpPr>
          <p:cNvPr id="8213" name="Rectangle 25"/>
          <p:cNvSpPr>
            <a:spLocks noChangeArrowheads="1"/>
          </p:cNvSpPr>
          <p:nvPr/>
        </p:nvSpPr>
        <p:spPr bwMode="auto">
          <a:xfrm>
            <a:off x="7889876" y="2241650"/>
            <a:ext cx="6030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/>
              <a:t>Eth2 </a:t>
            </a:r>
          </a:p>
        </p:txBody>
      </p:sp>
      <p:sp>
        <p:nvSpPr>
          <p:cNvPr id="8215" name="Rectangle 27"/>
          <p:cNvSpPr>
            <a:spLocks noChangeArrowheads="1"/>
          </p:cNvSpPr>
          <p:nvPr/>
        </p:nvSpPr>
        <p:spPr bwMode="auto">
          <a:xfrm>
            <a:off x="7693026" y="3036988"/>
            <a:ext cx="5533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/>
              <a:t>Eth3</a:t>
            </a:r>
            <a:endParaRPr lang="en-US" altLang="zh-CN" sz="1400" dirty="0"/>
          </a:p>
        </p:txBody>
      </p:sp>
      <p:sp>
        <p:nvSpPr>
          <p:cNvPr id="8216" name="Text Box 185"/>
          <p:cNvSpPr txBox="1">
            <a:spLocks noChangeArrowheads="1"/>
          </p:cNvSpPr>
          <p:nvPr/>
        </p:nvSpPr>
        <p:spPr bwMode="auto">
          <a:xfrm>
            <a:off x="4491254" y="3613649"/>
            <a:ext cx="18359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ctr" eaLnBrk="1" hangingPunct="1">
              <a:spcBef>
                <a:spcPct val="50000"/>
              </a:spcBef>
              <a:buFontTx/>
              <a:buNone/>
              <a:defRPr sz="1200">
                <a:solidFill>
                  <a:srgbClr val="FF3300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  <a:defRPr sz="2400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dirty="0"/>
              <a:t>G2/0/17:10.113.4.42/29</a:t>
            </a:r>
          </a:p>
        </p:txBody>
      </p:sp>
      <p:sp>
        <p:nvSpPr>
          <p:cNvPr id="8218" name="Rectangle 30"/>
          <p:cNvSpPr>
            <a:spLocks noChangeArrowheads="1"/>
          </p:cNvSpPr>
          <p:nvPr/>
        </p:nvSpPr>
        <p:spPr bwMode="auto">
          <a:xfrm>
            <a:off x="8832850" y="992188"/>
            <a:ext cx="2487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/>
              <a:t> </a:t>
            </a:r>
          </a:p>
        </p:txBody>
      </p:sp>
      <p:sp>
        <p:nvSpPr>
          <p:cNvPr id="8219" name="Text Box 185"/>
          <p:cNvSpPr txBox="1">
            <a:spLocks noChangeArrowheads="1"/>
          </p:cNvSpPr>
          <p:nvPr/>
        </p:nvSpPr>
        <p:spPr bwMode="auto">
          <a:xfrm>
            <a:off x="3478211" y="1852929"/>
            <a:ext cx="230663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200" dirty="0">
                <a:solidFill>
                  <a:srgbClr val="FF3300"/>
                </a:solidFill>
              </a:rPr>
              <a:t>（</a:t>
            </a:r>
            <a:r>
              <a:rPr lang="en-US" altLang="zh-CN" sz="1200" dirty="0">
                <a:solidFill>
                  <a:srgbClr val="FF3300"/>
                </a:solidFill>
              </a:rPr>
              <a:t>Vlan160</a:t>
            </a:r>
            <a:r>
              <a:rPr lang="zh-CN" altLang="en-US" sz="1200" dirty="0">
                <a:solidFill>
                  <a:srgbClr val="FF3300"/>
                </a:solidFill>
              </a:rPr>
              <a:t>）：</a:t>
            </a:r>
            <a:r>
              <a:rPr lang="en-US" altLang="zh-CN" sz="1200" dirty="0">
                <a:solidFill>
                  <a:srgbClr val="FF3300"/>
                </a:solidFill>
              </a:rPr>
              <a:t>10.113.4.44/29</a:t>
            </a:r>
          </a:p>
        </p:txBody>
      </p:sp>
      <p:sp>
        <p:nvSpPr>
          <p:cNvPr id="8220" name="Rectangle 32"/>
          <p:cNvSpPr>
            <a:spLocks noChangeArrowheads="1"/>
          </p:cNvSpPr>
          <p:nvPr/>
        </p:nvSpPr>
        <p:spPr bwMode="auto">
          <a:xfrm>
            <a:off x="7341936" y="1795841"/>
            <a:ext cx="210807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dirty="0">
                <a:solidFill>
                  <a:srgbClr val="FF3300"/>
                </a:solidFill>
              </a:rPr>
              <a:t>（</a:t>
            </a:r>
            <a:r>
              <a:rPr lang="en-US" altLang="zh-CN" sz="1200" dirty="0">
                <a:solidFill>
                  <a:srgbClr val="FF3300"/>
                </a:solidFill>
              </a:rPr>
              <a:t>Vlan170</a:t>
            </a:r>
            <a:r>
              <a:rPr lang="zh-CN" altLang="en-US" sz="1200" dirty="0">
                <a:solidFill>
                  <a:srgbClr val="FF3300"/>
                </a:solidFill>
              </a:rPr>
              <a:t>）</a:t>
            </a:r>
            <a:r>
              <a:rPr lang="en-US" altLang="zh-CN" sz="1200" dirty="0">
                <a:solidFill>
                  <a:srgbClr val="FF3300"/>
                </a:solidFill>
              </a:rPr>
              <a:t>:10.113.4.53/29</a:t>
            </a:r>
          </a:p>
        </p:txBody>
      </p:sp>
      <p:sp>
        <p:nvSpPr>
          <p:cNvPr id="8221" name="Text Box 185"/>
          <p:cNvSpPr txBox="1">
            <a:spLocks noChangeArrowheads="1"/>
          </p:cNvSpPr>
          <p:nvPr/>
        </p:nvSpPr>
        <p:spPr bwMode="auto">
          <a:xfrm>
            <a:off x="6380340" y="3609203"/>
            <a:ext cx="23272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G2/0/18</a:t>
            </a:r>
            <a:r>
              <a:rPr lang="zh-CN" altLang="en-US" sz="1200" dirty="0">
                <a:solidFill>
                  <a:srgbClr val="FF3300"/>
                </a:solidFill>
              </a:rPr>
              <a:t>：</a:t>
            </a:r>
            <a:r>
              <a:rPr lang="en-US" altLang="zh-CN" sz="1200" dirty="0">
                <a:solidFill>
                  <a:srgbClr val="FF3300"/>
                </a:solidFill>
              </a:rPr>
              <a:t>10.113.4.50/29</a:t>
            </a:r>
          </a:p>
        </p:txBody>
      </p:sp>
      <p:sp>
        <p:nvSpPr>
          <p:cNvPr id="8224" name="Text Box 36"/>
          <p:cNvSpPr txBox="1">
            <a:spLocks noChangeArrowheads="1"/>
          </p:cNvSpPr>
          <p:nvPr/>
        </p:nvSpPr>
        <p:spPr bwMode="auto">
          <a:xfrm>
            <a:off x="4254122" y="1634968"/>
            <a:ext cx="105215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GE 1/1/0/2</a:t>
            </a:r>
            <a:endParaRPr lang="en-US" altLang="zh-CN" sz="1000" b="1" dirty="0">
              <a:solidFill>
                <a:srgbClr val="0000FF"/>
              </a:solidFill>
            </a:endParaRPr>
          </a:p>
        </p:txBody>
      </p:sp>
      <p:sp>
        <p:nvSpPr>
          <p:cNvPr id="8227" name="Text Box 39"/>
          <p:cNvSpPr txBox="1">
            <a:spLocks noChangeArrowheads="1"/>
          </p:cNvSpPr>
          <p:nvPr/>
        </p:nvSpPr>
        <p:spPr bwMode="auto">
          <a:xfrm>
            <a:off x="7327647" y="1519139"/>
            <a:ext cx="99738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000" b="1" dirty="0"/>
              <a:t>GE 2/1/0/2</a:t>
            </a:r>
            <a:endParaRPr lang="en-US" altLang="zh-CN" sz="1000" b="1" dirty="0">
              <a:solidFill>
                <a:srgbClr val="0000FF"/>
              </a:solidFill>
            </a:endParaRPr>
          </a:p>
        </p:txBody>
      </p:sp>
      <p:sp>
        <p:nvSpPr>
          <p:cNvPr id="8230" name="Rectangle 42"/>
          <p:cNvSpPr>
            <a:spLocks noChangeArrowheads="1"/>
          </p:cNvSpPr>
          <p:nvPr/>
        </p:nvSpPr>
        <p:spPr bwMode="auto">
          <a:xfrm>
            <a:off x="4057650" y="5291138"/>
            <a:ext cx="11969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192.168.1.1/20</a:t>
            </a:r>
          </a:p>
        </p:txBody>
      </p:sp>
      <p:sp>
        <p:nvSpPr>
          <p:cNvPr id="8231" name="Rectangle 43"/>
          <p:cNvSpPr>
            <a:spLocks noChangeArrowheads="1"/>
          </p:cNvSpPr>
          <p:nvPr/>
        </p:nvSpPr>
        <p:spPr bwMode="auto">
          <a:xfrm>
            <a:off x="7581108" y="5342732"/>
            <a:ext cx="12811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10.113.255.1/20</a:t>
            </a:r>
          </a:p>
        </p:txBody>
      </p:sp>
      <p:sp>
        <p:nvSpPr>
          <p:cNvPr id="8232" name="Rectangle 44"/>
          <p:cNvSpPr>
            <a:spLocks noChangeArrowheads="1"/>
          </p:cNvSpPr>
          <p:nvPr/>
        </p:nvSpPr>
        <p:spPr bwMode="auto">
          <a:xfrm>
            <a:off x="6853239" y="4843464"/>
            <a:ext cx="10810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OSPF  1</a:t>
            </a:r>
          </a:p>
        </p:txBody>
      </p:sp>
      <p:sp>
        <p:nvSpPr>
          <p:cNvPr id="8233" name="Rectangle 45"/>
          <p:cNvSpPr>
            <a:spLocks noChangeArrowheads="1"/>
          </p:cNvSpPr>
          <p:nvPr/>
        </p:nvSpPr>
        <p:spPr bwMode="auto">
          <a:xfrm>
            <a:off x="5064125" y="4843463"/>
            <a:ext cx="10810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dirty="0">
                <a:solidFill>
                  <a:srgbClr val="FF3300"/>
                </a:solidFill>
              </a:rPr>
              <a:t>OSPF  100</a:t>
            </a:r>
          </a:p>
        </p:txBody>
      </p:sp>
      <p:pic>
        <p:nvPicPr>
          <p:cNvPr id="8234" name="Picture 87" descr="通用路由器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475" y="5797550"/>
            <a:ext cx="84455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35" name="Line 66"/>
          <p:cNvSpPr>
            <a:spLocks noChangeShapeType="1"/>
          </p:cNvSpPr>
          <p:nvPr/>
        </p:nvSpPr>
        <p:spPr bwMode="auto">
          <a:xfrm>
            <a:off x="4440239" y="5192714"/>
            <a:ext cx="719137" cy="6254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6" name="Line 66"/>
          <p:cNvSpPr>
            <a:spLocks noChangeShapeType="1"/>
          </p:cNvSpPr>
          <p:nvPr/>
        </p:nvSpPr>
        <p:spPr bwMode="auto">
          <a:xfrm flipV="1">
            <a:off x="5375276" y="5097464"/>
            <a:ext cx="2233613" cy="7207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8" name="Rectangle 259"/>
          <p:cNvSpPr>
            <a:spLocks noChangeArrowheads="1"/>
          </p:cNvSpPr>
          <p:nvPr/>
        </p:nvSpPr>
        <p:spPr bwMode="auto">
          <a:xfrm>
            <a:off x="2640013" y="4149725"/>
            <a:ext cx="12239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200" b="1" dirty="0"/>
          </a:p>
        </p:txBody>
      </p:sp>
      <p:pic>
        <p:nvPicPr>
          <p:cNvPr id="8242" name="Picture 87" descr="通用路由器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438" y="5818188"/>
            <a:ext cx="84455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43" name="Picture 87" descr="通用路由器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797550"/>
            <a:ext cx="84455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44" name="Line 66"/>
          <p:cNvSpPr>
            <a:spLocks noChangeShapeType="1"/>
          </p:cNvSpPr>
          <p:nvPr/>
        </p:nvSpPr>
        <p:spPr bwMode="auto">
          <a:xfrm>
            <a:off x="4872038" y="5170489"/>
            <a:ext cx="1439862" cy="71913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5" name="Line 66"/>
          <p:cNvSpPr>
            <a:spLocks noChangeShapeType="1"/>
          </p:cNvSpPr>
          <p:nvPr/>
        </p:nvSpPr>
        <p:spPr bwMode="auto">
          <a:xfrm>
            <a:off x="5087939" y="5026025"/>
            <a:ext cx="2376487" cy="8636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6" name="Line 66"/>
          <p:cNvSpPr>
            <a:spLocks noChangeShapeType="1"/>
          </p:cNvSpPr>
          <p:nvPr/>
        </p:nvSpPr>
        <p:spPr bwMode="auto">
          <a:xfrm flipH="1">
            <a:off x="7896226" y="5313364"/>
            <a:ext cx="504825" cy="5048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7" name="Line 66"/>
          <p:cNvSpPr>
            <a:spLocks noChangeShapeType="1"/>
          </p:cNvSpPr>
          <p:nvPr/>
        </p:nvSpPr>
        <p:spPr bwMode="auto">
          <a:xfrm flipH="1">
            <a:off x="6743701" y="5241925"/>
            <a:ext cx="1008063" cy="6477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9" name="Rectangle 259"/>
          <p:cNvSpPr>
            <a:spLocks noChangeArrowheads="1"/>
          </p:cNvSpPr>
          <p:nvPr/>
        </p:nvSpPr>
        <p:spPr bwMode="auto">
          <a:xfrm>
            <a:off x="2855913" y="3944938"/>
            <a:ext cx="990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200" b="1" dirty="0"/>
          </a:p>
        </p:txBody>
      </p:sp>
      <p:sp>
        <p:nvSpPr>
          <p:cNvPr id="8251" name="Text Box 185"/>
          <p:cNvSpPr txBox="1">
            <a:spLocks noChangeArrowheads="1"/>
          </p:cNvSpPr>
          <p:nvPr/>
        </p:nvSpPr>
        <p:spPr bwMode="auto">
          <a:xfrm>
            <a:off x="2282885" y="3981590"/>
            <a:ext cx="18351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600" b="1" dirty="0"/>
              <a:t>视频会议</a:t>
            </a:r>
            <a:r>
              <a:rPr lang="en-US" altLang="zh-CN" sz="1600" b="1" dirty="0"/>
              <a:t>IP</a:t>
            </a:r>
            <a:r>
              <a:rPr lang="zh-CN" altLang="en-US" sz="1600" b="1" dirty="0"/>
              <a:t>段</a:t>
            </a:r>
            <a:endParaRPr lang="en-US" altLang="zh-CN" sz="1600" b="1" dirty="0"/>
          </a:p>
          <a:p>
            <a:pPr algn="ctr">
              <a:spcBef>
                <a:spcPct val="50000"/>
              </a:spcBef>
              <a:buNone/>
            </a:pPr>
            <a:r>
              <a:rPr lang="en-US" altLang="zh-CN" sz="1600" dirty="0"/>
              <a:t>10.113.254.0/24</a:t>
            </a:r>
          </a:p>
        </p:txBody>
      </p:sp>
      <p:pic>
        <p:nvPicPr>
          <p:cNvPr id="8267" name="Picture 87" descr="通用路由器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738" y="3868740"/>
            <a:ext cx="84455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Line 66"/>
          <p:cNvSpPr>
            <a:spLocks noChangeShapeType="1"/>
          </p:cNvSpPr>
          <p:nvPr/>
        </p:nvSpPr>
        <p:spPr bwMode="auto">
          <a:xfrm>
            <a:off x="6621462" y="4371979"/>
            <a:ext cx="1417636" cy="365124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66"/>
          <p:cNvSpPr>
            <a:spLocks noChangeShapeType="1"/>
          </p:cNvSpPr>
          <p:nvPr/>
        </p:nvSpPr>
        <p:spPr bwMode="auto">
          <a:xfrm flipH="1" flipV="1">
            <a:off x="4310458" y="3077075"/>
            <a:ext cx="1729580" cy="86201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66"/>
          <p:cNvSpPr>
            <a:spLocks noChangeShapeType="1"/>
          </p:cNvSpPr>
          <p:nvPr/>
        </p:nvSpPr>
        <p:spPr bwMode="auto">
          <a:xfrm flipV="1">
            <a:off x="6527800" y="3028950"/>
            <a:ext cx="1554164" cy="85725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80" name="Picture 460" descr="图片23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27139" y="932526"/>
            <a:ext cx="728230" cy="755738"/>
          </a:xfrm>
          <a:prstGeom prst="rect">
            <a:avLst/>
          </a:prstGeom>
          <a:noFill/>
        </p:spPr>
      </p:pic>
      <p:pic>
        <p:nvPicPr>
          <p:cNvPr id="81" name="Picture 460" descr="图片23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08889" y="857254"/>
            <a:ext cx="728230" cy="755738"/>
          </a:xfrm>
          <a:prstGeom prst="rect">
            <a:avLst/>
          </a:prstGeom>
          <a:noFill/>
        </p:spPr>
      </p:pic>
      <p:sp>
        <p:nvSpPr>
          <p:cNvPr id="82" name="矩形 81"/>
          <p:cNvSpPr/>
          <p:nvPr/>
        </p:nvSpPr>
        <p:spPr>
          <a:xfrm>
            <a:off x="5180841" y="808492"/>
            <a:ext cx="2146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</a:rPr>
              <a:t>GZZY-S12708-A-B</a:t>
            </a:r>
            <a:endParaRPr lang="zh-CN" altLang="en-US" dirty="0"/>
          </a:p>
        </p:txBody>
      </p:sp>
      <p:sp>
        <p:nvSpPr>
          <p:cNvPr id="83" name="Text Box 241"/>
          <p:cNvSpPr txBox="1">
            <a:spLocks noChangeArrowheads="1"/>
          </p:cNvSpPr>
          <p:nvPr/>
        </p:nvSpPr>
        <p:spPr bwMode="auto">
          <a:xfrm>
            <a:off x="3509346" y="180628"/>
            <a:ext cx="57419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sz="2400" b="1" dirty="0"/>
              <a:t>贵州中烟工业公司网络</a:t>
            </a:r>
            <a:r>
              <a:rPr lang="en-US" altLang="zh-CN" sz="2400" b="1" dirty="0"/>
              <a:t>-</a:t>
            </a:r>
            <a:r>
              <a:rPr lang="zh-CN" altLang="en-US" sz="2000" b="1" dirty="0"/>
              <a:t>专网接入区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656732" y="4043739"/>
            <a:ext cx="15728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 b="1" dirty="0">
                <a:solidFill>
                  <a:srgbClr val="FF3300"/>
                </a:solidFill>
              </a:rPr>
              <a:t>H3C  CR16008</a:t>
            </a:r>
            <a:endParaRPr lang="zh-CN" altLang="en-US" sz="1600" b="1" dirty="0">
              <a:solidFill>
                <a:srgbClr val="FF33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35749" y="2520198"/>
            <a:ext cx="1513556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3300"/>
                </a:solidFill>
              </a:defRPr>
            </a:lvl1pPr>
          </a:lstStyle>
          <a:p>
            <a:r>
              <a:rPr lang="zh-CN" altLang="en-US" dirty="0"/>
              <a:t>专网防火墙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8617299" y="2594486"/>
            <a:ext cx="1513556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3300"/>
                </a:solidFill>
              </a:defRPr>
            </a:lvl1pPr>
          </a:lstStyle>
          <a:p>
            <a:r>
              <a:rPr lang="zh-CN" altLang="en-US" dirty="0"/>
              <a:t>专网防火墙</a:t>
            </a:r>
            <a:r>
              <a:rPr lang="en-US" altLang="zh-CN" dirty="0"/>
              <a:t>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979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41"/>
          <p:cNvSpPr txBox="1">
            <a:spLocks noChangeArrowheads="1"/>
          </p:cNvSpPr>
          <p:nvPr/>
        </p:nvSpPr>
        <p:spPr bwMode="auto">
          <a:xfrm>
            <a:off x="3738563" y="428625"/>
            <a:ext cx="4786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/>
              <a:t> </a:t>
            </a:r>
            <a:endParaRPr lang="zh-CN" altLang="en-US" sz="2400" b="1" dirty="0"/>
          </a:p>
        </p:txBody>
      </p:sp>
      <p:sp>
        <p:nvSpPr>
          <p:cNvPr id="10244" name="Text Box 219"/>
          <p:cNvSpPr txBox="1">
            <a:spLocks noChangeArrowheads="1"/>
          </p:cNvSpPr>
          <p:nvPr/>
        </p:nvSpPr>
        <p:spPr bwMode="auto">
          <a:xfrm>
            <a:off x="5604020" y="2390498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链路堆叠</a:t>
            </a:r>
          </a:p>
        </p:txBody>
      </p:sp>
      <p:sp>
        <p:nvSpPr>
          <p:cNvPr id="10247" name="Line 517"/>
          <p:cNvSpPr>
            <a:spLocks noChangeShapeType="1"/>
          </p:cNvSpPr>
          <p:nvPr/>
        </p:nvSpPr>
        <p:spPr bwMode="auto">
          <a:xfrm>
            <a:off x="4875790" y="2611954"/>
            <a:ext cx="2881746" cy="7421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8" name="Line 66"/>
          <p:cNvSpPr>
            <a:spLocks noChangeShapeType="1"/>
          </p:cNvSpPr>
          <p:nvPr/>
        </p:nvSpPr>
        <p:spPr bwMode="auto">
          <a:xfrm>
            <a:off x="4561198" y="2969979"/>
            <a:ext cx="1481527" cy="2122526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9" name="Picture 509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024" y="4990383"/>
            <a:ext cx="966788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0" name="Line 66"/>
          <p:cNvSpPr>
            <a:spLocks noChangeShapeType="1"/>
          </p:cNvSpPr>
          <p:nvPr/>
        </p:nvSpPr>
        <p:spPr bwMode="auto">
          <a:xfrm flipH="1">
            <a:off x="6288397" y="2875680"/>
            <a:ext cx="1658049" cy="22168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Text Box 185"/>
          <p:cNvSpPr txBox="1">
            <a:spLocks noChangeArrowheads="1"/>
          </p:cNvSpPr>
          <p:nvPr/>
        </p:nvSpPr>
        <p:spPr bwMode="auto">
          <a:xfrm>
            <a:off x="4723607" y="4400114"/>
            <a:ext cx="172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400" dirty="0">
                <a:solidFill>
                  <a:srgbClr val="FF0000"/>
                </a:solidFill>
              </a:rPr>
              <a:t>10.113.4.186/26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5643309" y="4744842"/>
            <a:ext cx="549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FF"/>
                </a:solidFill>
              </a:rPr>
              <a:t>Eth0</a:t>
            </a:r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6414775" y="4800508"/>
            <a:ext cx="5984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Eth1</a:t>
            </a:r>
            <a:r>
              <a:rPr lang="en-US" altLang="zh-CN" sz="1400" dirty="0"/>
              <a:t> </a:t>
            </a:r>
          </a:p>
        </p:txBody>
      </p: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5549395" y="5566020"/>
            <a:ext cx="1162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dirty="0"/>
              <a:t>SSL VPN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4727576" y="2852738"/>
            <a:ext cx="936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4546273" y="3158945"/>
            <a:ext cx="24746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/>
              <a:t>GE 1/1/0/6 </a:t>
            </a:r>
            <a:r>
              <a:rPr lang="en-US" altLang="zh-CN" sz="1800" dirty="0">
                <a:solidFill>
                  <a:srgbClr val="0000FF"/>
                </a:solidFill>
              </a:rPr>
              <a:t> (</a:t>
            </a:r>
            <a:r>
              <a:rPr lang="en-US" altLang="zh-CN" sz="1800" dirty="0"/>
              <a:t>vlan 13)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7031253" y="3017953"/>
            <a:ext cx="2647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/>
              <a:t>GE 2/1/0/6</a:t>
            </a:r>
            <a:r>
              <a:rPr lang="en-US" altLang="zh-CN" sz="1800" dirty="0"/>
              <a:t> (vlan 150)</a:t>
            </a:r>
          </a:p>
        </p:txBody>
      </p:sp>
      <p:sp>
        <p:nvSpPr>
          <p:cNvPr id="19" name="Text Box 241"/>
          <p:cNvSpPr txBox="1">
            <a:spLocks noChangeArrowheads="1"/>
          </p:cNvSpPr>
          <p:nvPr/>
        </p:nvSpPr>
        <p:spPr bwMode="auto">
          <a:xfrm>
            <a:off x="4147560" y="1015548"/>
            <a:ext cx="56720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/>
              <a:t>贵州中烟工业公司网络</a:t>
            </a:r>
            <a:r>
              <a:rPr lang="en-US" altLang="zh-CN" sz="2400" b="1" dirty="0"/>
              <a:t>-SSL VPN</a:t>
            </a:r>
            <a:endParaRPr lang="zh-CN" altLang="en-US" sz="2000" b="1" dirty="0"/>
          </a:p>
        </p:txBody>
      </p:sp>
      <p:pic>
        <p:nvPicPr>
          <p:cNvPr id="22" name="Picture 460" descr="图片23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47560" y="2261350"/>
            <a:ext cx="728230" cy="755738"/>
          </a:xfrm>
          <a:prstGeom prst="rect">
            <a:avLst/>
          </a:prstGeom>
          <a:noFill/>
        </p:spPr>
      </p:pic>
      <p:pic>
        <p:nvPicPr>
          <p:cNvPr id="23" name="Picture 460" descr="图片23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57536" y="2255592"/>
            <a:ext cx="731421" cy="750474"/>
          </a:xfrm>
          <a:prstGeom prst="rect">
            <a:avLst/>
          </a:prstGeom>
          <a:noFill/>
        </p:spPr>
      </p:pic>
      <p:sp>
        <p:nvSpPr>
          <p:cNvPr id="24" name="Text Box 122"/>
          <p:cNvSpPr txBox="1">
            <a:spLocks noChangeArrowheads="1"/>
          </p:cNvSpPr>
          <p:nvPr/>
        </p:nvSpPr>
        <p:spPr bwMode="auto">
          <a:xfrm>
            <a:off x="5221288" y="1816932"/>
            <a:ext cx="24590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>
                <a:solidFill>
                  <a:srgbClr val="FF3300"/>
                </a:solidFill>
              </a:rPr>
              <a:t>GZZY-S12708-A-B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09649" y="3464991"/>
            <a:ext cx="1463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10.113.4.190/26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61526" y="3359333"/>
            <a:ext cx="1463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10.113.4.126/26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03503" y="4364578"/>
            <a:ext cx="1450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10.113.4.114/26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67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41"/>
          <p:cNvSpPr txBox="1">
            <a:spLocks noChangeArrowheads="1"/>
          </p:cNvSpPr>
          <p:nvPr/>
        </p:nvSpPr>
        <p:spPr bwMode="auto">
          <a:xfrm>
            <a:off x="3355976" y="1100117"/>
            <a:ext cx="5768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sz="2400" b="1" strike="sngStrike" dirty="0"/>
              <a:t>贵州中烟工业公司网络</a:t>
            </a:r>
            <a:r>
              <a:rPr lang="en-US" altLang="zh-CN" sz="2400" b="1" strike="sngStrike" dirty="0"/>
              <a:t>-</a:t>
            </a:r>
            <a:r>
              <a:rPr lang="zh-CN" altLang="zh-CN" sz="2000" b="1" strike="sngStrike" dirty="0"/>
              <a:t>天融信核心千兆</a:t>
            </a:r>
            <a:r>
              <a:rPr lang="en-US" altLang="zh-CN" sz="2000" b="1" strike="sngStrike" dirty="0"/>
              <a:t>IDS</a:t>
            </a:r>
            <a:endParaRPr lang="zh-CN" altLang="en-US" sz="2000" b="1" strike="sngStrike" dirty="0"/>
          </a:p>
        </p:txBody>
      </p:sp>
      <p:sp>
        <p:nvSpPr>
          <p:cNvPr id="12292" name="Text Box 219"/>
          <p:cNvSpPr txBox="1">
            <a:spLocks noChangeArrowheads="1"/>
          </p:cNvSpPr>
          <p:nvPr/>
        </p:nvSpPr>
        <p:spPr bwMode="auto">
          <a:xfrm>
            <a:off x="5618163" y="2278064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链路堆叠</a:t>
            </a:r>
          </a:p>
        </p:txBody>
      </p:sp>
      <p:sp>
        <p:nvSpPr>
          <p:cNvPr id="12295" name="Line 517"/>
          <p:cNvSpPr>
            <a:spLocks noChangeShapeType="1"/>
          </p:cNvSpPr>
          <p:nvPr/>
        </p:nvSpPr>
        <p:spPr bwMode="auto">
          <a:xfrm>
            <a:off x="4791654" y="2565401"/>
            <a:ext cx="3002974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6" name="Line 66"/>
          <p:cNvSpPr>
            <a:spLocks noChangeShapeType="1"/>
          </p:cNvSpPr>
          <p:nvPr/>
        </p:nvSpPr>
        <p:spPr bwMode="auto">
          <a:xfrm>
            <a:off x="4668839" y="2962277"/>
            <a:ext cx="1355725" cy="10429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7" name="Line 66"/>
          <p:cNvSpPr>
            <a:spLocks noChangeShapeType="1"/>
          </p:cNvSpPr>
          <p:nvPr/>
        </p:nvSpPr>
        <p:spPr bwMode="auto">
          <a:xfrm flipH="1">
            <a:off x="6240464" y="2906713"/>
            <a:ext cx="1871662" cy="10985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5239545" y="3607770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GE0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6528594" y="3594895"/>
            <a:ext cx="588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dirty="0">
                <a:solidFill>
                  <a:srgbClr val="0000FF"/>
                </a:solidFill>
              </a:rPr>
              <a:t>GE1</a:t>
            </a:r>
            <a:r>
              <a:rPr lang="en-US" altLang="zh-CN" sz="1400" dirty="0"/>
              <a:t> </a:t>
            </a:r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6600825" y="4076701"/>
            <a:ext cx="565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IDS</a:t>
            </a:r>
          </a:p>
        </p:txBody>
      </p:sp>
      <p:sp>
        <p:nvSpPr>
          <p:cNvPr id="12303" name="Line 66"/>
          <p:cNvSpPr>
            <a:spLocks noChangeShapeType="1"/>
          </p:cNvSpPr>
          <p:nvPr/>
        </p:nvSpPr>
        <p:spPr bwMode="auto">
          <a:xfrm>
            <a:off x="4295775" y="2997200"/>
            <a:ext cx="0" cy="10795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4" name="Line 66"/>
          <p:cNvSpPr>
            <a:spLocks noChangeShapeType="1"/>
          </p:cNvSpPr>
          <p:nvPr/>
        </p:nvSpPr>
        <p:spPr bwMode="auto">
          <a:xfrm flipV="1">
            <a:off x="4295775" y="4076700"/>
            <a:ext cx="15128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2612518" y="3200400"/>
            <a:ext cx="25584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/>
              <a:t>GE 1/2/1/1</a:t>
            </a:r>
            <a:r>
              <a:rPr lang="zh-CN" altLang="en-US" sz="1800" dirty="0"/>
              <a:t>（</a:t>
            </a:r>
            <a:r>
              <a:rPr lang="en-US" altLang="zh-CN" sz="1800" dirty="0">
                <a:solidFill>
                  <a:srgbClr val="0000FF"/>
                </a:solidFill>
              </a:rPr>
              <a:t> </a:t>
            </a:r>
            <a:r>
              <a:rPr lang="en-US" altLang="zh-CN" sz="1800" dirty="0">
                <a:solidFill>
                  <a:srgbClr val="FF3300"/>
                </a:solidFill>
              </a:rPr>
              <a:t>valn150</a:t>
            </a:r>
            <a:r>
              <a:rPr lang="zh-CN" altLang="en-US" sz="1800" dirty="0">
                <a:solidFill>
                  <a:srgbClr val="FF3300"/>
                </a:solidFill>
              </a:rPr>
              <a:t>）</a:t>
            </a:r>
            <a:endParaRPr lang="en-US" altLang="zh-CN" sz="1800" dirty="0">
              <a:solidFill>
                <a:srgbClr val="FF3300"/>
              </a:solidFill>
            </a:endParaRP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4396580" y="2942766"/>
            <a:ext cx="141208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400" b="1" dirty="0"/>
              <a:t>GE 1/1/0/4</a:t>
            </a:r>
            <a:endParaRPr lang="en-US" altLang="zh-CN" sz="1400" dirty="0">
              <a:solidFill>
                <a:srgbClr val="0000FF"/>
              </a:solidFill>
            </a:endParaRP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7321550" y="2962277"/>
            <a:ext cx="1295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en-US" altLang="zh-CN" sz="1400" b="1" dirty="0"/>
              <a:t>GE 2/1/0/4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4583113" y="5052220"/>
            <a:ext cx="20177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solidFill>
                <a:srgbClr val="FF3300"/>
              </a:solidFill>
            </a:endParaRP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5880101" y="4797426"/>
            <a:ext cx="1008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solidFill>
                <a:srgbClr val="FF3300"/>
              </a:solidFill>
            </a:endParaRPr>
          </a:p>
        </p:txBody>
      </p:sp>
      <p:graphicFrame>
        <p:nvGraphicFramePr>
          <p:cNvPr id="12310" name="Object 22"/>
          <p:cNvGraphicFramePr>
            <a:graphicFrameLocks noChangeAspect="1"/>
          </p:cNvGraphicFramePr>
          <p:nvPr/>
        </p:nvGraphicFramePr>
        <p:xfrm>
          <a:off x="5664201" y="3573464"/>
          <a:ext cx="7921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88" r:id="rId3" imgW="560527" imgH="731520" progId="Visio.Drawing.11">
                  <p:embed/>
                </p:oleObj>
              </mc:Choice>
              <mc:Fallback>
                <p:oleObj r:id="rId3" imgW="560527" imgH="731520" progId="Visio.Drawing.11">
                  <p:embed/>
                  <p:pic>
                    <p:nvPicPr>
                      <p:cNvPr id="0" name="Picture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3573464"/>
                        <a:ext cx="792163" cy="9366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5087938" y="5013326"/>
            <a:ext cx="2881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/>
              <a:t>监控</a:t>
            </a:r>
            <a:r>
              <a:rPr lang="en-US" altLang="zh-CN" sz="1800"/>
              <a:t>:</a:t>
            </a:r>
            <a:r>
              <a:rPr lang="zh-CN" altLang="en-US" sz="1800"/>
              <a:t>外网</a:t>
            </a:r>
            <a:r>
              <a:rPr lang="en-US" altLang="zh-CN" sz="1800"/>
              <a:t>\</a:t>
            </a:r>
            <a:r>
              <a:rPr lang="zh-CN" altLang="en-US" sz="1800"/>
              <a:t>专网</a:t>
            </a:r>
            <a:r>
              <a:rPr lang="en-US" altLang="zh-CN" sz="1800"/>
              <a:t>\</a:t>
            </a:r>
            <a:r>
              <a:rPr lang="zh-CN" altLang="en-US" sz="1800"/>
              <a:t>国家局</a:t>
            </a:r>
          </a:p>
        </p:txBody>
      </p:sp>
      <p:pic>
        <p:nvPicPr>
          <p:cNvPr id="24" name="Picture 460" descr="图片23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94628" y="2266907"/>
            <a:ext cx="728230" cy="755738"/>
          </a:xfrm>
          <a:prstGeom prst="rect">
            <a:avLst/>
          </a:prstGeom>
          <a:noFill/>
        </p:spPr>
      </p:pic>
      <p:pic>
        <p:nvPicPr>
          <p:cNvPr id="25" name="Picture 460" descr="图片23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63423" y="2278594"/>
            <a:ext cx="728230" cy="755738"/>
          </a:xfrm>
          <a:prstGeom prst="rect">
            <a:avLst/>
          </a:prstGeom>
          <a:noFill/>
        </p:spPr>
      </p:pic>
      <p:sp>
        <p:nvSpPr>
          <p:cNvPr id="26" name="矩形 25"/>
          <p:cNvSpPr/>
          <p:nvPr/>
        </p:nvSpPr>
        <p:spPr>
          <a:xfrm>
            <a:off x="5079208" y="1889751"/>
            <a:ext cx="2146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</a:rPr>
              <a:t>GZZY-S12708-A-B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901420" y="4066571"/>
            <a:ext cx="805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管理口</a:t>
            </a:r>
          </a:p>
        </p:txBody>
      </p:sp>
    </p:spTree>
    <p:extLst>
      <p:ext uri="{BB962C8B-B14F-4D97-AF65-F5344CB8AC3E}">
        <p14:creationId xmlns:p14="http://schemas.microsoft.com/office/powerpoint/2010/main" val="354995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41"/>
          <p:cNvSpPr txBox="1">
            <a:spLocks noChangeArrowheads="1"/>
          </p:cNvSpPr>
          <p:nvPr/>
        </p:nvSpPr>
        <p:spPr bwMode="auto">
          <a:xfrm>
            <a:off x="3521123" y="638176"/>
            <a:ext cx="5821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sz="2400" b="1" strike="sngStrike" dirty="0"/>
              <a:t>贵州中烟工业公司网络</a:t>
            </a:r>
            <a:r>
              <a:rPr lang="en-US" altLang="zh-CN" sz="2400" b="1" strike="sngStrike" dirty="0"/>
              <a:t>-</a:t>
            </a:r>
            <a:r>
              <a:rPr lang="zh-CN" altLang="zh-CN" sz="2000" b="1" strike="sngStrike" dirty="0"/>
              <a:t>天融信</a:t>
            </a:r>
            <a:r>
              <a:rPr lang="zh-CN" altLang="en-US" sz="2000" b="1" strike="sngStrike" dirty="0"/>
              <a:t>千兆网络审计</a:t>
            </a:r>
          </a:p>
        </p:txBody>
      </p:sp>
      <p:sp>
        <p:nvSpPr>
          <p:cNvPr id="11272" name="Line 66"/>
          <p:cNvSpPr>
            <a:spLocks noChangeShapeType="1"/>
          </p:cNvSpPr>
          <p:nvPr/>
        </p:nvSpPr>
        <p:spPr bwMode="auto">
          <a:xfrm>
            <a:off x="4649788" y="2659313"/>
            <a:ext cx="1242652" cy="12268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3" name="Line 66"/>
          <p:cNvSpPr>
            <a:spLocks noChangeShapeType="1"/>
          </p:cNvSpPr>
          <p:nvPr/>
        </p:nvSpPr>
        <p:spPr bwMode="auto">
          <a:xfrm flipH="1">
            <a:off x="6240464" y="2722813"/>
            <a:ext cx="1943100" cy="12824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5303838" y="3789363"/>
            <a:ext cx="539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FF"/>
                </a:solidFill>
              </a:rPr>
              <a:t>GE0</a:t>
            </a: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6527801" y="3789363"/>
            <a:ext cx="588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solidFill>
                  <a:srgbClr val="0000FF"/>
                </a:solidFill>
              </a:rPr>
              <a:t>GE1</a:t>
            </a:r>
            <a:r>
              <a:rPr lang="en-US" altLang="zh-CN" sz="1400"/>
              <a:t> 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6672264" y="4062413"/>
            <a:ext cx="1565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/>
              <a:t>千兆审计系统</a:t>
            </a:r>
          </a:p>
        </p:txBody>
      </p:sp>
      <p:graphicFrame>
        <p:nvGraphicFramePr>
          <p:cNvPr id="11279" name="Object 15"/>
          <p:cNvGraphicFramePr>
            <a:graphicFrameLocks noChangeAspect="1"/>
          </p:cNvGraphicFramePr>
          <p:nvPr/>
        </p:nvGraphicFramePr>
        <p:xfrm>
          <a:off x="5735638" y="3716339"/>
          <a:ext cx="8572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06" r:id="rId3" imgW="856488" imgH="498348" progId="Visio.Drawing.11">
                  <p:embed/>
                </p:oleObj>
              </mc:Choice>
              <mc:Fallback>
                <p:oleObj r:id="rId3" imgW="856488" imgH="498348" progId="Visio.Drawing.11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3716339"/>
                        <a:ext cx="857250" cy="720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Line 66"/>
          <p:cNvSpPr>
            <a:spLocks noChangeShapeType="1"/>
          </p:cNvSpPr>
          <p:nvPr/>
        </p:nvSpPr>
        <p:spPr bwMode="auto">
          <a:xfrm>
            <a:off x="4295775" y="2716729"/>
            <a:ext cx="0" cy="1359971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1" name="Line 66"/>
          <p:cNvSpPr>
            <a:spLocks noChangeShapeType="1"/>
          </p:cNvSpPr>
          <p:nvPr/>
        </p:nvSpPr>
        <p:spPr bwMode="auto">
          <a:xfrm flipV="1">
            <a:off x="4295775" y="4076700"/>
            <a:ext cx="151288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2705100" y="3096871"/>
            <a:ext cx="2546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b="1" dirty="0"/>
              <a:t>GE 1/2/1/2</a:t>
            </a:r>
            <a:r>
              <a:rPr lang="zh-CN" altLang="en-US" sz="1800" dirty="0">
                <a:solidFill>
                  <a:srgbClr val="FF3300"/>
                </a:solidFill>
              </a:rPr>
              <a:t>（</a:t>
            </a:r>
            <a:r>
              <a:rPr lang="en-US" altLang="zh-CN" sz="1800" dirty="0">
                <a:solidFill>
                  <a:srgbClr val="FF3300"/>
                </a:solidFill>
              </a:rPr>
              <a:t>vlan 150</a:t>
            </a:r>
            <a:r>
              <a:rPr lang="zh-CN" altLang="en-US" sz="1800" dirty="0">
                <a:solidFill>
                  <a:srgbClr val="FF3300"/>
                </a:solidFill>
              </a:rPr>
              <a:t>）</a:t>
            </a:r>
            <a:endParaRPr lang="en-US" altLang="zh-CN" sz="1800" dirty="0">
              <a:solidFill>
                <a:srgbClr val="FF3300"/>
              </a:solidFill>
            </a:endParaRP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4295776" y="2722813"/>
            <a:ext cx="13311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/>
              <a:t>GE 1/1/0/5</a:t>
            </a:r>
            <a:endParaRPr lang="en-US" altLang="zh-CN" sz="1800" dirty="0">
              <a:solidFill>
                <a:srgbClr val="0000FF"/>
              </a:solidFill>
            </a:endParaRP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7175501" y="2852738"/>
            <a:ext cx="13560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 dirty="0"/>
              <a:t>GE 2/1/0/5</a:t>
            </a:r>
            <a:endParaRPr lang="en-US" altLang="zh-CN" sz="1800" b="1" dirty="0">
              <a:solidFill>
                <a:srgbClr val="0000FF"/>
              </a:solidFill>
            </a:endParaRP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4583113" y="5013326"/>
            <a:ext cx="20177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solidFill>
                <a:srgbClr val="FF3300"/>
              </a:solidFill>
            </a:endParaRP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5087938" y="5013326"/>
            <a:ext cx="2881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/>
              <a:t>监控</a:t>
            </a:r>
            <a:r>
              <a:rPr lang="en-US" altLang="zh-CN" sz="1800"/>
              <a:t>:</a:t>
            </a:r>
            <a:r>
              <a:rPr lang="zh-CN" altLang="en-US" sz="1800"/>
              <a:t>外网</a:t>
            </a:r>
            <a:r>
              <a:rPr lang="en-US" altLang="zh-CN" sz="1800"/>
              <a:t>\</a:t>
            </a:r>
            <a:r>
              <a:rPr lang="zh-CN" altLang="en-US" sz="1800"/>
              <a:t>专网</a:t>
            </a:r>
            <a:r>
              <a:rPr lang="en-US" altLang="zh-CN" sz="1800"/>
              <a:t>\</a:t>
            </a:r>
            <a:r>
              <a:rPr lang="zh-CN" altLang="en-US" sz="1800"/>
              <a:t>国家局</a:t>
            </a:r>
          </a:p>
        </p:txBody>
      </p:sp>
      <p:sp>
        <p:nvSpPr>
          <p:cNvPr id="23" name="Text Box 219"/>
          <p:cNvSpPr txBox="1">
            <a:spLocks noChangeArrowheads="1"/>
          </p:cNvSpPr>
          <p:nvPr/>
        </p:nvSpPr>
        <p:spPr bwMode="auto">
          <a:xfrm>
            <a:off x="5626893" y="2022656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链路堆叠</a:t>
            </a:r>
          </a:p>
        </p:txBody>
      </p:sp>
      <p:sp>
        <p:nvSpPr>
          <p:cNvPr id="24" name="Line 517"/>
          <p:cNvSpPr>
            <a:spLocks noChangeShapeType="1"/>
          </p:cNvSpPr>
          <p:nvPr/>
        </p:nvSpPr>
        <p:spPr bwMode="auto">
          <a:xfrm>
            <a:off x="4800384" y="2309993"/>
            <a:ext cx="3002974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" name="Picture 460" descr="图片23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03358" y="2011499"/>
            <a:ext cx="728230" cy="755738"/>
          </a:xfrm>
          <a:prstGeom prst="rect">
            <a:avLst/>
          </a:prstGeom>
          <a:noFill/>
        </p:spPr>
      </p:pic>
      <p:pic>
        <p:nvPicPr>
          <p:cNvPr id="26" name="Picture 460" descr="图片23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72153" y="2023186"/>
            <a:ext cx="728230" cy="755738"/>
          </a:xfrm>
          <a:prstGeom prst="rect">
            <a:avLst/>
          </a:prstGeom>
          <a:noFill/>
        </p:spPr>
      </p:pic>
      <p:sp>
        <p:nvSpPr>
          <p:cNvPr id="27" name="矩形 26"/>
          <p:cNvSpPr/>
          <p:nvPr/>
        </p:nvSpPr>
        <p:spPr>
          <a:xfrm>
            <a:off x="5087938" y="1634343"/>
            <a:ext cx="2146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</a:rPr>
              <a:t>GZZY-S12708-A-B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4901420" y="4066571"/>
            <a:ext cx="805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管理口</a:t>
            </a:r>
          </a:p>
        </p:txBody>
      </p:sp>
    </p:spTree>
    <p:extLst>
      <p:ext uri="{BB962C8B-B14F-4D97-AF65-F5344CB8AC3E}">
        <p14:creationId xmlns:p14="http://schemas.microsoft.com/office/powerpoint/2010/main" val="1384224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27C-A852-43A8-8ABA-2561D9FE215E}" type="datetime1">
              <a:rPr lang="zh-CN" altLang="en-US" smtClean="0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3" name="Picture 8" descr="无线交换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984" y="4121598"/>
            <a:ext cx="6858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241"/>
          <p:cNvSpPr txBox="1">
            <a:spLocks noChangeArrowheads="1"/>
          </p:cNvSpPr>
          <p:nvPr/>
        </p:nvSpPr>
        <p:spPr bwMode="auto">
          <a:xfrm>
            <a:off x="2647666" y="460755"/>
            <a:ext cx="5821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sz="2400" b="1" dirty="0"/>
              <a:t>贵州中烟工业公司网络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无线</a:t>
            </a:r>
            <a:r>
              <a:rPr lang="en-US" altLang="zh-CN" sz="2400" b="1" dirty="0"/>
              <a:t>AC</a:t>
            </a:r>
            <a:endParaRPr lang="zh-CN" altLang="en-US" sz="2000" b="1" dirty="0"/>
          </a:p>
        </p:txBody>
      </p:sp>
      <p:sp>
        <p:nvSpPr>
          <p:cNvPr id="5" name="Line 66"/>
          <p:cNvSpPr>
            <a:spLocks noChangeShapeType="1"/>
          </p:cNvSpPr>
          <p:nvPr/>
        </p:nvSpPr>
        <p:spPr bwMode="auto">
          <a:xfrm>
            <a:off x="3709656" y="2520548"/>
            <a:ext cx="1489328" cy="1733776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66"/>
          <p:cNvSpPr>
            <a:spLocks noChangeShapeType="1"/>
          </p:cNvSpPr>
          <p:nvPr/>
        </p:nvSpPr>
        <p:spPr bwMode="auto">
          <a:xfrm flipH="1">
            <a:off x="5482101" y="2545392"/>
            <a:ext cx="1828004" cy="170893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5648852" y="4099237"/>
            <a:ext cx="9829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/>
              <a:t>无线</a:t>
            </a:r>
            <a:r>
              <a:rPr lang="en-US" altLang="zh-CN" sz="1800" b="1" dirty="0"/>
              <a:t>AC</a:t>
            </a:r>
            <a:endParaRPr lang="zh-CN" altLang="en-US" sz="1800" b="1" dirty="0"/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1542197" y="2663952"/>
            <a:ext cx="40570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</a:rPr>
              <a:t>GE 1/1/0/3( Vlan 500) 10.113.15.2/30</a:t>
            </a: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6302044" y="2675317"/>
            <a:ext cx="36881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FontTx/>
              <a:buNone/>
              <a:defRPr sz="16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  <a:defRPr sz="2400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b="1" dirty="0"/>
              <a:t>GE 2/1/0/3(Vlan 501)10.113.15.6/30</a:t>
            </a:r>
          </a:p>
        </p:txBody>
      </p:sp>
      <p:sp>
        <p:nvSpPr>
          <p:cNvPr id="17" name="Text Box 219"/>
          <p:cNvSpPr txBox="1">
            <a:spLocks noChangeArrowheads="1"/>
          </p:cNvSpPr>
          <p:nvPr/>
        </p:nvSpPr>
        <p:spPr bwMode="auto">
          <a:xfrm>
            <a:off x="4753436" y="1845235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链路堆叠</a:t>
            </a:r>
          </a:p>
        </p:txBody>
      </p:sp>
      <p:sp>
        <p:nvSpPr>
          <p:cNvPr id="18" name="Line 517"/>
          <p:cNvSpPr>
            <a:spLocks noChangeShapeType="1"/>
          </p:cNvSpPr>
          <p:nvPr/>
        </p:nvSpPr>
        <p:spPr bwMode="auto">
          <a:xfrm>
            <a:off x="3926927" y="2132572"/>
            <a:ext cx="3002974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901" y="1834078"/>
            <a:ext cx="728230" cy="755738"/>
          </a:xfrm>
          <a:prstGeom prst="rect">
            <a:avLst/>
          </a:prstGeom>
          <a:noFill/>
        </p:spPr>
      </p:pic>
      <p:pic>
        <p:nvPicPr>
          <p:cNvPr id="20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8696" y="1845765"/>
            <a:ext cx="728230" cy="755738"/>
          </a:xfrm>
          <a:prstGeom prst="rect">
            <a:avLst/>
          </a:prstGeom>
          <a:noFill/>
        </p:spPr>
      </p:pic>
      <p:sp>
        <p:nvSpPr>
          <p:cNvPr id="21" name="矩形 20"/>
          <p:cNvSpPr/>
          <p:nvPr/>
        </p:nvSpPr>
        <p:spPr>
          <a:xfrm>
            <a:off x="4214481" y="1456922"/>
            <a:ext cx="2146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</a:rPr>
              <a:t>GZZY-S12708-A-B</a:t>
            </a:r>
            <a:endParaRPr lang="zh-CN" altLang="en-US" dirty="0"/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1898390" y="3584087"/>
            <a:ext cx="40570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>
                <a:solidFill>
                  <a:srgbClr val="FF0000"/>
                </a:solidFill>
              </a:rPr>
              <a:t>GE 0/0/1( Vlan 500) 10.113.15.1/30</a:t>
            </a: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5466046" y="3562624"/>
            <a:ext cx="368811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FontTx/>
              <a:buNone/>
              <a:defRPr sz="1600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  <a:defRPr sz="2400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b="1" dirty="0"/>
              <a:t>GE 0/0/2(Vlan 501)10.113.15.5/30</a:t>
            </a:r>
          </a:p>
        </p:txBody>
      </p:sp>
      <p:sp>
        <p:nvSpPr>
          <p:cNvPr id="25" name="Line 66"/>
          <p:cNvSpPr>
            <a:spLocks noChangeShapeType="1"/>
          </p:cNvSpPr>
          <p:nvPr/>
        </p:nvSpPr>
        <p:spPr bwMode="auto">
          <a:xfrm>
            <a:off x="2756848" y="4397728"/>
            <a:ext cx="2213712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4162627" y="4340874"/>
            <a:ext cx="91723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FontTx/>
              <a:buNone/>
              <a:defRPr sz="1600" b="1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  <a:defRPr sz="2400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dirty="0"/>
              <a:t>G  0/0/6</a:t>
            </a:r>
            <a:endParaRPr lang="zh-CN" altLang="en-US" dirty="0"/>
          </a:p>
        </p:txBody>
      </p:sp>
      <p:pic>
        <p:nvPicPr>
          <p:cNvPr id="29" name="Picture 8" descr="无线交换机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648" y="4276264"/>
            <a:ext cx="552911" cy="403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2220155" y="4639650"/>
            <a:ext cx="1511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/>
              <a:t>机房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无线</a:t>
            </a:r>
            <a:r>
              <a:rPr lang="en-US" altLang="zh-CN" sz="1800" b="1" dirty="0"/>
              <a:t>AP</a:t>
            </a:r>
            <a:endParaRPr lang="zh-CN" altLang="en-US" sz="1800" b="1" dirty="0"/>
          </a:p>
        </p:txBody>
      </p:sp>
      <p:pic>
        <p:nvPicPr>
          <p:cNvPr id="22" name="Picture 8" descr="无线交换机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30" y="5528082"/>
            <a:ext cx="552911" cy="403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Line 66"/>
          <p:cNvSpPr>
            <a:spLocks noChangeShapeType="1"/>
          </p:cNvSpPr>
          <p:nvPr/>
        </p:nvSpPr>
        <p:spPr bwMode="auto">
          <a:xfrm flipV="1">
            <a:off x="5079866" y="4453281"/>
            <a:ext cx="18068" cy="1074801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5023565" y="5221690"/>
            <a:ext cx="1511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 dirty="0"/>
              <a:t>机房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无线</a:t>
            </a:r>
            <a:r>
              <a:rPr lang="en-US" altLang="zh-CN" sz="1800" b="1" dirty="0"/>
              <a:t>AP</a:t>
            </a:r>
            <a:endParaRPr lang="zh-CN" altLang="en-US" sz="1800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4900628" y="4627084"/>
            <a:ext cx="14603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buFontTx/>
              <a:buNone/>
              <a:defRPr sz="1600" b="1">
                <a:solidFill>
                  <a:srgbClr val="FF0000"/>
                </a:solidFill>
              </a:defRPr>
            </a:lvl1pPr>
            <a:lvl2pPr marL="742950" indent="-285750">
              <a:spcBef>
                <a:spcPct val="20000"/>
              </a:spcBef>
              <a:buChar char="–"/>
              <a:defRPr sz="2800"/>
            </a:lvl2pPr>
            <a:lvl3pPr marL="1143000" indent="-228600">
              <a:spcBef>
                <a:spcPct val="20000"/>
              </a:spcBef>
              <a:buChar char="•"/>
              <a:defRPr sz="2400"/>
            </a:lvl3pPr>
            <a:lvl4pPr marL="1600200" indent="-228600">
              <a:spcBef>
                <a:spcPct val="20000"/>
              </a:spcBef>
              <a:buChar char="–"/>
              <a:defRPr sz="2000"/>
            </a:lvl4pPr>
            <a:lvl5pPr marL="2057400" indent="-228600">
              <a:spcBef>
                <a:spcPct val="20000"/>
              </a:spcBef>
              <a:buChar char="»"/>
              <a:defRPr sz="2000"/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/>
            </a:lvl9pPr>
          </a:lstStyle>
          <a:p>
            <a:r>
              <a:rPr lang="en-US" altLang="zh-CN" dirty="0"/>
              <a:t>G  0/0/10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 bwMode="auto">
          <a:xfrm>
            <a:off x="3732107" y="3152260"/>
            <a:ext cx="3197794" cy="409991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814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327C-A852-43A8-8ABA-2561D9FE215E}" type="datetime1">
              <a:rPr lang="zh-CN" altLang="en-US" smtClean="0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Text Box 241"/>
          <p:cNvSpPr txBox="1">
            <a:spLocks noChangeArrowheads="1"/>
          </p:cNvSpPr>
          <p:nvPr/>
        </p:nvSpPr>
        <p:spPr bwMode="auto">
          <a:xfrm>
            <a:off x="2647666" y="460755"/>
            <a:ext cx="5821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sz="2400" b="1" dirty="0"/>
              <a:t>贵州中烟工业公司网络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视频会议</a:t>
            </a:r>
            <a:endParaRPr lang="zh-CN" altLang="en-US" sz="2000" b="1" dirty="0"/>
          </a:p>
        </p:txBody>
      </p:sp>
      <p:sp>
        <p:nvSpPr>
          <p:cNvPr id="5" name="Line 66"/>
          <p:cNvSpPr>
            <a:spLocks noChangeShapeType="1"/>
          </p:cNvSpPr>
          <p:nvPr/>
        </p:nvSpPr>
        <p:spPr bwMode="auto">
          <a:xfrm>
            <a:off x="3709655" y="2520548"/>
            <a:ext cx="1642395" cy="1880274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2987490" y="3168509"/>
            <a:ext cx="12269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/>
              <a:t>GE 1/1/0/8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3709656" y="4835905"/>
            <a:ext cx="20177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1800">
              <a:solidFill>
                <a:srgbClr val="FF3300"/>
              </a:solidFill>
            </a:endParaRPr>
          </a:p>
        </p:txBody>
      </p:sp>
      <p:sp>
        <p:nvSpPr>
          <p:cNvPr id="17" name="Text Box 219"/>
          <p:cNvSpPr txBox="1">
            <a:spLocks noChangeArrowheads="1"/>
          </p:cNvSpPr>
          <p:nvPr/>
        </p:nvSpPr>
        <p:spPr bwMode="auto">
          <a:xfrm>
            <a:off x="4753436" y="1845235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链路堆叠</a:t>
            </a:r>
          </a:p>
        </p:txBody>
      </p:sp>
      <p:sp>
        <p:nvSpPr>
          <p:cNvPr id="18" name="Line 517"/>
          <p:cNvSpPr>
            <a:spLocks noChangeShapeType="1"/>
          </p:cNvSpPr>
          <p:nvPr/>
        </p:nvSpPr>
        <p:spPr bwMode="auto">
          <a:xfrm>
            <a:off x="3926927" y="2132572"/>
            <a:ext cx="3002974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9901" y="1834078"/>
            <a:ext cx="728230" cy="755738"/>
          </a:xfrm>
          <a:prstGeom prst="rect">
            <a:avLst/>
          </a:prstGeom>
          <a:noFill/>
        </p:spPr>
      </p:pic>
      <p:pic>
        <p:nvPicPr>
          <p:cNvPr id="20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8696" y="1845765"/>
            <a:ext cx="728230" cy="755738"/>
          </a:xfrm>
          <a:prstGeom prst="rect">
            <a:avLst/>
          </a:prstGeom>
          <a:noFill/>
        </p:spPr>
      </p:pic>
      <p:sp>
        <p:nvSpPr>
          <p:cNvPr id="21" name="矩形 20"/>
          <p:cNvSpPr/>
          <p:nvPr/>
        </p:nvSpPr>
        <p:spPr>
          <a:xfrm>
            <a:off x="4214481" y="1456922"/>
            <a:ext cx="2146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</a:rPr>
              <a:t>GZZY-S12708-A-B</a:t>
            </a:r>
            <a:endParaRPr lang="zh-CN" altLang="en-US" dirty="0"/>
          </a:p>
        </p:txBody>
      </p:sp>
      <p:graphicFrame>
        <p:nvGraphicFramePr>
          <p:cNvPr id="16" name="Object 1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207471"/>
              </p:ext>
            </p:extLst>
          </p:nvPr>
        </p:nvGraphicFramePr>
        <p:xfrm>
          <a:off x="5134781" y="4400821"/>
          <a:ext cx="5762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4" r:id="rId4" imgW="1092708" imgH="1700022" progId="Visio.Drawing.11">
                  <p:embed/>
                </p:oleObj>
              </mc:Choice>
              <mc:Fallback>
                <p:oleObj r:id="rId4" imgW="1092708" imgH="1700022" progId="Visio.Drawing.11">
                  <p:embed/>
                  <p:pic>
                    <p:nvPicPr>
                      <p:cNvPr id="0" name="Picture 3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4781" y="4400821"/>
                        <a:ext cx="576262" cy="5572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99"/>
          <p:cNvSpPr txBox="1">
            <a:spLocks noChangeArrowheads="1"/>
          </p:cNvSpPr>
          <p:nvPr/>
        </p:nvSpPr>
        <p:spPr bwMode="auto">
          <a:xfrm>
            <a:off x="4879511" y="4835905"/>
            <a:ext cx="15263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b="1" dirty="0"/>
              <a:t>视频会议服务器</a:t>
            </a:r>
            <a:endParaRPr lang="en-US" altLang="zh-CN" sz="12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200" dirty="0"/>
              <a:t>华为</a:t>
            </a:r>
            <a:r>
              <a:rPr lang="en-US" altLang="zh-CN" sz="1200" dirty="0"/>
              <a:t>SMC</a:t>
            </a:r>
            <a:r>
              <a:rPr lang="zh-CN" altLang="zh-CN" sz="1200" dirty="0"/>
              <a:t>服务器</a:t>
            </a:r>
            <a:r>
              <a:rPr lang="en-US" altLang="zh-CN" sz="1200" dirty="0"/>
              <a:t> B3</a:t>
            </a:r>
            <a:endParaRPr lang="zh-CN" altLang="en-US" sz="1200" b="1" dirty="0"/>
          </a:p>
        </p:txBody>
      </p:sp>
      <p:graphicFrame>
        <p:nvGraphicFramePr>
          <p:cNvPr id="24" name="Object 1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359972"/>
              </p:ext>
            </p:extLst>
          </p:nvPr>
        </p:nvGraphicFramePr>
        <p:xfrm>
          <a:off x="3403759" y="4400821"/>
          <a:ext cx="5762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5" r:id="rId6" imgW="1092708" imgH="1700022" progId="Visio.Drawing.11">
                  <p:embed/>
                </p:oleObj>
              </mc:Choice>
              <mc:Fallback>
                <p:oleObj r:id="rId6" imgW="1092708" imgH="1700022" progId="Visio.Drawing.11">
                  <p:embed/>
                  <p:pic>
                    <p:nvPicPr>
                      <p:cNvPr id="0" name="Picture 3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759" y="4400821"/>
                        <a:ext cx="576262" cy="5572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99"/>
          <p:cNvSpPr txBox="1">
            <a:spLocks noChangeArrowheads="1"/>
          </p:cNvSpPr>
          <p:nvPr/>
        </p:nvSpPr>
        <p:spPr bwMode="auto">
          <a:xfrm>
            <a:off x="3148489" y="4835905"/>
            <a:ext cx="1072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200" b="1" dirty="0"/>
              <a:t>视频控制</a:t>
            </a:r>
            <a:endParaRPr lang="en-US" altLang="zh-CN" sz="12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200" dirty="0"/>
              <a:t>华为</a:t>
            </a:r>
            <a:r>
              <a:rPr lang="en-US" altLang="zh-CN" sz="1200" dirty="0"/>
              <a:t>MCU B3</a:t>
            </a:r>
            <a:endParaRPr lang="zh-CN" altLang="en-US" sz="1200" b="1" dirty="0"/>
          </a:p>
        </p:txBody>
      </p:sp>
      <p:graphicFrame>
        <p:nvGraphicFramePr>
          <p:cNvPr id="26" name="Object 1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1880111"/>
              </p:ext>
            </p:extLst>
          </p:nvPr>
        </p:nvGraphicFramePr>
        <p:xfrm>
          <a:off x="7949756" y="4400821"/>
          <a:ext cx="5762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6" r:id="rId7" imgW="1092708" imgH="1700022" progId="Visio.Drawing.11">
                  <p:embed/>
                </p:oleObj>
              </mc:Choice>
              <mc:Fallback>
                <p:oleObj r:id="rId7" imgW="1092708" imgH="1700022" progId="Visio.Drawing.11">
                  <p:embed/>
                  <p:pic>
                    <p:nvPicPr>
                      <p:cNvPr id="0" name="Picture 3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9756" y="4400821"/>
                        <a:ext cx="576262" cy="5572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99"/>
          <p:cNvSpPr txBox="1">
            <a:spLocks noChangeArrowheads="1"/>
          </p:cNvSpPr>
          <p:nvPr/>
        </p:nvSpPr>
        <p:spPr bwMode="auto">
          <a:xfrm>
            <a:off x="7899208" y="4835905"/>
            <a:ext cx="11849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200" b="1" dirty="0"/>
              <a:t>视频录播</a:t>
            </a:r>
            <a:br>
              <a:rPr lang="en-US" altLang="zh-CN" sz="1200" dirty="0"/>
            </a:br>
            <a:r>
              <a:rPr lang="zh-CN" altLang="zh-CN" sz="1200" dirty="0"/>
              <a:t>录播服务器</a:t>
            </a:r>
            <a:r>
              <a:rPr lang="en-US" altLang="zh-CN" sz="1200" dirty="0"/>
              <a:t> B3</a:t>
            </a:r>
            <a:endParaRPr lang="zh-CN" altLang="en-US" sz="1200" b="1" dirty="0"/>
          </a:p>
        </p:txBody>
      </p:sp>
      <p:sp>
        <p:nvSpPr>
          <p:cNvPr id="28" name="Line 66"/>
          <p:cNvSpPr>
            <a:spLocks noChangeShapeType="1"/>
          </p:cNvSpPr>
          <p:nvPr/>
        </p:nvSpPr>
        <p:spPr bwMode="auto">
          <a:xfrm>
            <a:off x="3478189" y="2507846"/>
            <a:ext cx="103211" cy="192705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66"/>
          <p:cNvSpPr>
            <a:spLocks noChangeShapeType="1"/>
          </p:cNvSpPr>
          <p:nvPr/>
        </p:nvSpPr>
        <p:spPr bwMode="auto">
          <a:xfrm>
            <a:off x="3889332" y="2497157"/>
            <a:ext cx="4060424" cy="1999211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7182" y="2659863"/>
            <a:ext cx="331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( Vlan 210) 10.113.254.254/27</a:t>
            </a:r>
            <a:endParaRPr lang="zh-CN" altLang="en-US" dirty="0"/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4072099" y="3400992"/>
            <a:ext cx="12269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/>
              <a:t>GE 1/1/0/7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31" name="Text Box 19"/>
          <p:cNvSpPr txBox="1">
            <a:spLocks noChangeArrowheads="1"/>
          </p:cNvSpPr>
          <p:nvPr/>
        </p:nvSpPr>
        <p:spPr bwMode="auto">
          <a:xfrm>
            <a:off x="6236905" y="3701866"/>
            <a:ext cx="12269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b="1" dirty="0"/>
              <a:t>GE 1/1/0/9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68724" y="40845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GE0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7313435" y="412797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/>
              <a:t>Lan</a:t>
            </a:r>
            <a:r>
              <a:rPr lang="en-US" altLang="zh-CN" b="1" dirty="0"/>
              <a:t> </a:t>
            </a:r>
            <a:r>
              <a:rPr lang="zh-CN" altLang="en-US" b="1" dirty="0"/>
              <a:t>口</a:t>
            </a:r>
          </a:p>
        </p:txBody>
      </p:sp>
      <p:cxnSp>
        <p:nvCxnSpPr>
          <p:cNvPr id="7" name="直接连接符 6"/>
          <p:cNvCxnSpPr>
            <a:endCxn id="26" idx="1"/>
          </p:cNvCxnSpPr>
          <p:nvPr/>
        </p:nvCxnSpPr>
        <p:spPr bwMode="auto">
          <a:xfrm>
            <a:off x="5711043" y="4679427"/>
            <a:ext cx="223871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文本框 32"/>
          <p:cNvSpPr txBox="1"/>
          <p:nvPr/>
        </p:nvSpPr>
        <p:spPr>
          <a:xfrm>
            <a:off x="7247115" y="4663055"/>
            <a:ext cx="959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Wan </a:t>
            </a:r>
            <a:r>
              <a:rPr lang="zh-CN" altLang="en-US" b="1" dirty="0"/>
              <a:t>口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5607664" y="4643295"/>
            <a:ext cx="15359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/>
              <a:t>Slot 1 </a:t>
            </a:r>
            <a:r>
              <a:rPr lang="zh-CN" altLang="en-US" sz="1000" b="1" dirty="0"/>
              <a:t>（自上而下</a:t>
            </a:r>
            <a:r>
              <a:rPr lang="en-US" altLang="zh-CN" sz="1000" b="1" dirty="0"/>
              <a:t>1</a:t>
            </a:r>
            <a:r>
              <a:rPr lang="zh-CN" altLang="en-US" sz="1000" b="1" dirty="0"/>
              <a:t>口）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670657" y="4154601"/>
            <a:ext cx="15359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/>
              <a:t>Slot 1 </a:t>
            </a:r>
            <a:r>
              <a:rPr lang="zh-CN" altLang="en-US" sz="1000" b="1" dirty="0"/>
              <a:t>（自上而下</a:t>
            </a:r>
            <a:r>
              <a:rPr lang="en-US" altLang="zh-CN" sz="1000" b="1" dirty="0"/>
              <a:t>3</a:t>
            </a:r>
            <a:r>
              <a:rPr lang="zh-CN" altLang="en-US" sz="1000" b="1" dirty="0"/>
              <a:t>口）</a:t>
            </a:r>
          </a:p>
        </p:txBody>
      </p:sp>
    </p:spTree>
    <p:extLst>
      <p:ext uri="{BB962C8B-B14F-4D97-AF65-F5344CB8AC3E}">
        <p14:creationId xmlns:p14="http://schemas.microsoft.com/office/powerpoint/2010/main" val="417883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55800" y="6356350"/>
            <a:ext cx="2743200" cy="365125"/>
          </a:xfrm>
        </p:spPr>
        <p:txBody>
          <a:bodyPr/>
          <a:lstStyle/>
          <a:p>
            <a:fld id="{8C55327C-A852-43A8-8ABA-2561D9FE215E}" type="datetime1">
              <a:rPr lang="zh-CN" altLang="en-US" smtClean="0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Text Box 241"/>
          <p:cNvSpPr txBox="1">
            <a:spLocks noChangeArrowheads="1"/>
          </p:cNvSpPr>
          <p:nvPr/>
        </p:nvSpPr>
        <p:spPr bwMode="auto">
          <a:xfrm>
            <a:off x="1965266" y="460755"/>
            <a:ext cx="5821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sz="2400" b="1" dirty="0"/>
              <a:t>贵州中烟工业公司网络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其他</a:t>
            </a:r>
            <a:endParaRPr lang="zh-CN" altLang="en-US" sz="2000" b="1" dirty="0"/>
          </a:p>
        </p:txBody>
      </p:sp>
      <p:sp>
        <p:nvSpPr>
          <p:cNvPr id="5" name="Line 66"/>
          <p:cNvSpPr>
            <a:spLocks noChangeShapeType="1"/>
          </p:cNvSpPr>
          <p:nvPr/>
        </p:nvSpPr>
        <p:spPr bwMode="auto">
          <a:xfrm flipH="1">
            <a:off x="4669650" y="2426190"/>
            <a:ext cx="1706308" cy="197463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3042238" y="3723481"/>
            <a:ext cx="15938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dirty="0"/>
              <a:t>GE 2/1/0/10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17" name="Text Box 219"/>
          <p:cNvSpPr txBox="1">
            <a:spLocks noChangeArrowheads="1"/>
          </p:cNvSpPr>
          <p:nvPr/>
        </p:nvSpPr>
        <p:spPr bwMode="auto">
          <a:xfrm>
            <a:off x="4071036" y="1845235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链路堆叠</a:t>
            </a:r>
          </a:p>
        </p:txBody>
      </p:sp>
      <p:sp>
        <p:nvSpPr>
          <p:cNvPr id="18" name="Line 517"/>
          <p:cNvSpPr>
            <a:spLocks noChangeShapeType="1"/>
          </p:cNvSpPr>
          <p:nvPr/>
        </p:nvSpPr>
        <p:spPr bwMode="auto">
          <a:xfrm>
            <a:off x="3244527" y="2132572"/>
            <a:ext cx="3002974" cy="0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9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7501" y="1834078"/>
            <a:ext cx="728230" cy="755738"/>
          </a:xfrm>
          <a:prstGeom prst="rect">
            <a:avLst/>
          </a:prstGeom>
          <a:noFill/>
        </p:spPr>
      </p:pic>
      <p:pic>
        <p:nvPicPr>
          <p:cNvPr id="20" name="Picture 460" descr="图片23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6296" y="1845765"/>
            <a:ext cx="728230" cy="755738"/>
          </a:xfrm>
          <a:prstGeom prst="rect">
            <a:avLst/>
          </a:prstGeom>
          <a:noFill/>
        </p:spPr>
      </p:pic>
      <p:sp>
        <p:nvSpPr>
          <p:cNvPr id="21" name="矩形 20"/>
          <p:cNvSpPr/>
          <p:nvPr/>
        </p:nvSpPr>
        <p:spPr>
          <a:xfrm>
            <a:off x="3532081" y="1456922"/>
            <a:ext cx="2146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</a:rPr>
              <a:t>GZZY-S12708-A-B</a:t>
            </a:r>
            <a:endParaRPr lang="zh-CN" altLang="en-US" dirty="0"/>
          </a:p>
        </p:txBody>
      </p:sp>
      <p:graphicFrame>
        <p:nvGraphicFramePr>
          <p:cNvPr id="16" name="Object 1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2767182"/>
              </p:ext>
            </p:extLst>
          </p:nvPr>
        </p:nvGraphicFramePr>
        <p:xfrm>
          <a:off x="4452381" y="4400821"/>
          <a:ext cx="5762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3" r:id="rId4" imgW="1092708" imgH="1700022" progId="Visio.Drawing.11">
                  <p:embed/>
                </p:oleObj>
              </mc:Choice>
              <mc:Fallback>
                <p:oleObj r:id="rId4" imgW="1092708" imgH="1700022" progId="Visio.Drawing.11">
                  <p:embed/>
                  <p:pic>
                    <p:nvPicPr>
                      <p:cNvPr id="0" name="Picture 1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381" y="4400821"/>
                        <a:ext cx="576262" cy="5572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99"/>
          <p:cNvSpPr txBox="1">
            <a:spLocks noChangeArrowheads="1"/>
          </p:cNvSpPr>
          <p:nvPr/>
        </p:nvSpPr>
        <p:spPr bwMode="auto">
          <a:xfrm>
            <a:off x="4197111" y="4835905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200" dirty="0"/>
              <a:t>锦星酒店基站</a:t>
            </a:r>
            <a:endParaRPr lang="en-US" altLang="zh-CN" sz="12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b="1" dirty="0"/>
              <a:t>光端盒</a:t>
            </a:r>
          </a:p>
        </p:txBody>
      </p:sp>
      <p:graphicFrame>
        <p:nvGraphicFramePr>
          <p:cNvPr id="26" name="Object 1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17014"/>
              </p:ext>
            </p:extLst>
          </p:nvPr>
        </p:nvGraphicFramePr>
        <p:xfrm>
          <a:off x="6093652" y="4400821"/>
          <a:ext cx="5762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" r:id="rId6" imgW="1092708" imgH="1700022" progId="Visio.Drawing.11">
                  <p:embed/>
                </p:oleObj>
              </mc:Choice>
              <mc:Fallback>
                <p:oleObj r:id="rId6" imgW="1092708" imgH="1700022" progId="Visio.Drawing.11">
                  <p:embed/>
                  <p:pic>
                    <p:nvPicPr>
                      <p:cNvPr id="0" name="Picture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3652" y="4400821"/>
                        <a:ext cx="576262" cy="5572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99"/>
          <p:cNvSpPr txBox="1">
            <a:spLocks noChangeArrowheads="1"/>
          </p:cNvSpPr>
          <p:nvPr/>
        </p:nvSpPr>
        <p:spPr bwMode="auto">
          <a:xfrm>
            <a:off x="5838382" y="4835905"/>
            <a:ext cx="1569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1200" dirty="0"/>
              <a:t>物流中心协议转换器</a:t>
            </a:r>
            <a:endParaRPr lang="en-US" altLang="zh-CN" sz="12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 b="1" dirty="0"/>
              <a:t>光端盒</a:t>
            </a:r>
          </a:p>
        </p:txBody>
      </p:sp>
      <p:sp>
        <p:nvSpPr>
          <p:cNvPr id="28" name="Line 66"/>
          <p:cNvSpPr>
            <a:spLocks noChangeShapeType="1"/>
          </p:cNvSpPr>
          <p:nvPr/>
        </p:nvSpPr>
        <p:spPr bwMode="auto">
          <a:xfrm flipH="1">
            <a:off x="2784517" y="2360756"/>
            <a:ext cx="3564234" cy="2475149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66"/>
          <p:cNvSpPr>
            <a:spLocks noChangeShapeType="1"/>
          </p:cNvSpPr>
          <p:nvPr/>
        </p:nvSpPr>
        <p:spPr bwMode="auto">
          <a:xfrm flipH="1">
            <a:off x="6247499" y="2507846"/>
            <a:ext cx="206269" cy="191537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Box 19"/>
          <p:cNvSpPr txBox="1">
            <a:spLocks noChangeArrowheads="1"/>
          </p:cNvSpPr>
          <p:nvPr/>
        </p:nvSpPr>
        <p:spPr bwMode="auto">
          <a:xfrm>
            <a:off x="4580957" y="3876151"/>
            <a:ext cx="12799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dirty="0"/>
              <a:t>GE 2/1/0/11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31" name="Text Box 19"/>
          <p:cNvSpPr txBox="1">
            <a:spLocks noChangeArrowheads="1"/>
          </p:cNvSpPr>
          <p:nvPr/>
        </p:nvSpPr>
        <p:spPr bwMode="auto">
          <a:xfrm>
            <a:off x="5916483" y="4010912"/>
            <a:ext cx="1733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dirty="0"/>
              <a:t>GE 2/1/0/12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pic>
        <p:nvPicPr>
          <p:cNvPr id="23" name="Picture 459" descr="图片23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605882" y="4837096"/>
            <a:ext cx="312703" cy="329622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413144" y="514494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    H3CS5100-B3(</a:t>
            </a:r>
            <a:r>
              <a:rPr lang="zh-CN" altLang="zh-CN" sz="1400" b="1" dirty="0"/>
              <a:t>交换机</a:t>
            </a:r>
            <a:r>
              <a:rPr lang="en-US" altLang="zh-CN" sz="1400" b="1" dirty="0"/>
              <a:t>)</a:t>
            </a:r>
          </a:p>
          <a:p>
            <a:r>
              <a:rPr lang="zh-CN" altLang="en-US" sz="1400" b="1" dirty="0"/>
              <a:t>用于接硬盘录像机和监控服务器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2440670" y="4473625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电口</a:t>
            </a:r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34" name="Text Box 199"/>
          <p:cNvSpPr txBox="1">
            <a:spLocks noChangeArrowheads="1"/>
          </p:cNvSpPr>
          <p:nvPr/>
        </p:nvSpPr>
        <p:spPr bwMode="auto">
          <a:xfrm>
            <a:off x="7959067" y="4988305"/>
            <a:ext cx="14494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dirty="0"/>
              <a:t>B6</a:t>
            </a:r>
            <a:r>
              <a:rPr lang="zh-CN" altLang="zh-CN" sz="1200" dirty="0"/>
              <a:t>机柜网神</a:t>
            </a:r>
            <a:r>
              <a:rPr lang="zh-CN" altLang="en-US" sz="1200" dirty="0"/>
              <a:t>防火墙</a:t>
            </a:r>
            <a:endParaRPr lang="zh-CN" altLang="en-US" sz="1200" b="1" dirty="0"/>
          </a:p>
        </p:txBody>
      </p:sp>
      <p:sp>
        <p:nvSpPr>
          <p:cNvPr id="35" name="Line 66"/>
          <p:cNvSpPr>
            <a:spLocks noChangeShapeType="1"/>
          </p:cNvSpPr>
          <p:nvPr/>
        </p:nvSpPr>
        <p:spPr bwMode="auto">
          <a:xfrm>
            <a:off x="6900064" y="2152324"/>
            <a:ext cx="1840200" cy="1502666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6961363" y="3608056"/>
            <a:ext cx="17333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600" dirty="0"/>
              <a:t>GE 2/1/0/13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12147" y="5990297"/>
            <a:ext cx="1851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H3C ICG 5000B</a:t>
            </a:r>
          </a:p>
          <a:p>
            <a:r>
              <a:rPr lang="zh-CN" altLang="zh-CN" dirty="0"/>
              <a:t>上海灾备中心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7786582" y="5990297"/>
            <a:ext cx="1977354" cy="36605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8502468" y="5066737"/>
            <a:ext cx="0" cy="9235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Text Box 199"/>
          <p:cNvSpPr txBox="1">
            <a:spLocks noChangeArrowheads="1"/>
          </p:cNvSpPr>
          <p:nvPr/>
        </p:nvSpPr>
        <p:spPr bwMode="auto">
          <a:xfrm>
            <a:off x="8121963" y="5668160"/>
            <a:ext cx="49244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 b="1" dirty="0"/>
              <a:t>GE0</a:t>
            </a:r>
            <a:endParaRPr lang="zh-CN" altLang="en-US" sz="12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7870907" y="4216117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FE/GE3</a:t>
            </a:r>
            <a:endParaRPr lang="zh-CN" altLang="en-US" dirty="0"/>
          </a:p>
        </p:txBody>
      </p:sp>
      <p:sp>
        <p:nvSpPr>
          <p:cNvPr id="38" name="文本框 37"/>
          <p:cNvSpPr txBox="1"/>
          <p:nvPr/>
        </p:nvSpPr>
        <p:spPr>
          <a:xfrm>
            <a:off x="8216886" y="5221884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FE/GE2</a:t>
            </a:r>
            <a:endParaRPr lang="zh-CN" altLang="en-US" dirty="0"/>
          </a:p>
        </p:txBody>
      </p:sp>
      <p:sp>
        <p:nvSpPr>
          <p:cNvPr id="39" name="Line 66"/>
          <p:cNvSpPr>
            <a:spLocks noChangeShapeType="1"/>
          </p:cNvSpPr>
          <p:nvPr/>
        </p:nvSpPr>
        <p:spPr bwMode="auto">
          <a:xfrm>
            <a:off x="6607833" y="2520548"/>
            <a:ext cx="1912751" cy="220746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pic>
        <p:nvPicPr>
          <p:cNvPr id="40" name="Picture 509" descr="防火墙0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952" y="4576657"/>
            <a:ext cx="966788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" name="Object 1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361136"/>
              </p:ext>
            </p:extLst>
          </p:nvPr>
        </p:nvGraphicFramePr>
        <p:xfrm>
          <a:off x="8579532" y="3534654"/>
          <a:ext cx="5762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5" r:id="rId9" imgW="1092708" imgH="1700022" progId="Visio.Drawing.11">
                  <p:embed/>
                </p:oleObj>
              </mc:Choice>
              <mc:Fallback>
                <p:oleObj r:id="rId9" imgW="1092708" imgH="1700022" progId="Visio.Drawing.11">
                  <p:embed/>
                  <p:pic>
                    <p:nvPicPr>
                      <p:cNvPr id="0" name="Picture 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9532" y="3534654"/>
                        <a:ext cx="576262" cy="5572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9147463" y="3387668"/>
            <a:ext cx="1980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zh-CN" dirty="0"/>
              <a:t>联通传输设备</a:t>
            </a:r>
            <a:endParaRPr lang="en-US" altLang="zh-CN" dirty="0"/>
          </a:p>
          <a:p>
            <a:r>
              <a:rPr lang="en-US" altLang="zh-CN" dirty="0"/>
              <a:t>B5</a:t>
            </a:r>
            <a:r>
              <a:rPr lang="zh-CN" altLang="zh-CN" dirty="0"/>
              <a:t>机柜</a:t>
            </a:r>
            <a:r>
              <a:rPr lang="en-US" altLang="zh-CN" dirty="0"/>
              <a:t>RAisecom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7852280" y="3183180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r>
              <a:rPr lang="zh-CN" altLang="zh-CN" dirty="0"/>
              <a:t>插槽电口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7464061" y="276887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GE</a:t>
            </a:r>
            <a:r>
              <a:rPr lang="en-US" altLang="zh-CN" b="1" dirty="0"/>
              <a:t> </a:t>
            </a:r>
            <a:r>
              <a:rPr lang="en-US" altLang="zh-CN" sz="1600" dirty="0"/>
              <a:t>2/1/0/7</a:t>
            </a:r>
            <a:endParaRPr lang="zh-CN" altLang="en-US" sz="1600" dirty="0"/>
          </a:p>
        </p:txBody>
      </p:sp>
      <p:sp>
        <p:nvSpPr>
          <p:cNvPr id="43" name="Line 66"/>
          <p:cNvSpPr>
            <a:spLocks noChangeShapeType="1"/>
          </p:cNvSpPr>
          <p:nvPr/>
        </p:nvSpPr>
        <p:spPr bwMode="auto">
          <a:xfrm flipV="1">
            <a:off x="6900064" y="2044435"/>
            <a:ext cx="3055927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4" name="Picture 534" descr="云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323" y="1670445"/>
            <a:ext cx="14414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 Box 532"/>
          <p:cNvSpPr txBox="1">
            <a:spLocks noChangeArrowheads="1"/>
          </p:cNvSpPr>
          <p:nvPr/>
        </p:nvSpPr>
        <p:spPr bwMode="auto">
          <a:xfrm>
            <a:off x="9408503" y="1932032"/>
            <a:ext cx="14398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200" dirty="0"/>
              <a:t>营销中心网络</a:t>
            </a:r>
          </a:p>
        </p:txBody>
      </p:sp>
      <p:sp>
        <p:nvSpPr>
          <p:cNvPr id="46" name="Rectangle 22"/>
          <p:cNvSpPr>
            <a:spLocks noChangeArrowheads="1"/>
          </p:cNvSpPr>
          <p:nvPr/>
        </p:nvSpPr>
        <p:spPr bwMode="auto">
          <a:xfrm>
            <a:off x="5459745" y="5102827"/>
            <a:ext cx="15263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3300"/>
                </a:solidFill>
              </a:rPr>
              <a:t>192.168.10.2/30</a:t>
            </a:r>
            <a:r>
              <a:rPr lang="en-US" altLang="zh-CN" sz="1400"/>
              <a:t> </a:t>
            </a:r>
            <a:endParaRPr lang="en-US" altLang="zh-CN" sz="1400" dirty="0"/>
          </a:p>
        </p:txBody>
      </p:sp>
      <p:sp>
        <p:nvSpPr>
          <p:cNvPr id="47" name="Text Box 185"/>
          <p:cNvSpPr txBox="1">
            <a:spLocks noChangeArrowheads="1"/>
          </p:cNvSpPr>
          <p:nvPr/>
        </p:nvSpPr>
        <p:spPr bwMode="auto">
          <a:xfrm>
            <a:off x="6805696" y="1742578"/>
            <a:ext cx="2822379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zh-CN" sz="1400" b="1" dirty="0"/>
              <a:t>GE 2/1/0/8 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1400" b="1" dirty="0">
                <a:solidFill>
                  <a:srgbClr val="FF3300"/>
                </a:solidFill>
              </a:rPr>
              <a:t>（</a:t>
            </a:r>
            <a:r>
              <a:rPr lang="en-US" altLang="zh-CN" sz="1400" b="1" dirty="0">
                <a:solidFill>
                  <a:srgbClr val="FF3300"/>
                </a:solidFill>
              </a:rPr>
              <a:t>Vlan 190</a:t>
            </a:r>
            <a:r>
              <a:rPr lang="zh-CN" altLang="en-US" sz="1400" b="1" dirty="0">
                <a:solidFill>
                  <a:srgbClr val="FF3300"/>
                </a:solidFill>
              </a:rPr>
              <a:t>）</a:t>
            </a:r>
            <a:r>
              <a:rPr lang="en-US" altLang="zh-CN" sz="1400" b="1" dirty="0">
                <a:solidFill>
                  <a:srgbClr val="FF3300"/>
                </a:solidFill>
              </a:rPr>
              <a:t>:192.168.10.1/30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7791783" y="467188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/>
              <a:t>营销中心协转</a:t>
            </a:r>
          </a:p>
        </p:txBody>
      </p:sp>
      <p:graphicFrame>
        <p:nvGraphicFramePr>
          <p:cNvPr id="4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720876"/>
              </p:ext>
            </p:extLst>
          </p:nvPr>
        </p:nvGraphicFramePr>
        <p:xfrm>
          <a:off x="10050399" y="1623380"/>
          <a:ext cx="404904" cy="539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6" r:id="rId11" imgW="560527" imgH="731520" progId="Visio.Drawing.11">
                  <p:embed/>
                </p:oleObj>
              </mc:Choice>
              <mc:Fallback>
                <p:oleObj r:id="rId11" imgW="560527" imgH="731520" progId="Visio.Drawing.11">
                  <p:embed/>
                  <p:pic>
                    <p:nvPicPr>
                      <p:cNvPr id="0" name="Picture 1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50399" y="1623380"/>
                        <a:ext cx="404904" cy="5395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2888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e 517"/>
          <p:cNvSpPr>
            <a:spLocks noChangeShapeType="1"/>
          </p:cNvSpPr>
          <p:nvPr/>
        </p:nvSpPr>
        <p:spPr bwMode="auto">
          <a:xfrm flipV="1">
            <a:off x="3052561" y="2933326"/>
            <a:ext cx="2122042" cy="6692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517"/>
          <p:cNvSpPr>
            <a:spLocks noChangeShapeType="1"/>
          </p:cNvSpPr>
          <p:nvPr/>
        </p:nvSpPr>
        <p:spPr bwMode="auto">
          <a:xfrm flipV="1">
            <a:off x="3066976" y="2831561"/>
            <a:ext cx="2107627" cy="17866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椭圆 62"/>
          <p:cNvSpPr/>
          <p:nvPr/>
        </p:nvSpPr>
        <p:spPr bwMode="auto">
          <a:xfrm>
            <a:off x="8619262" y="3384159"/>
            <a:ext cx="465249" cy="12310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2" name="椭圆 61"/>
          <p:cNvSpPr/>
          <p:nvPr/>
        </p:nvSpPr>
        <p:spPr bwMode="auto">
          <a:xfrm>
            <a:off x="8263643" y="3762362"/>
            <a:ext cx="465249" cy="12310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1" name="椭圆 50"/>
          <p:cNvSpPr/>
          <p:nvPr/>
        </p:nvSpPr>
        <p:spPr bwMode="auto">
          <a:xfrm>
            <a:off x="2204788" y="3410560"/>
            <a:ext cx="996148" cy="22233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4" name="Line 66"/>
          <p:cNvSpPr>
            <a:spLocks noChangeShapeType="1"/>
          </p:cNvSpPr>
          <p:nvPr/>
        </p:nvSpPr>
        <p:spPr bwMode="auto">
          <a:xfrm>
            <a:off x="2832201" y="3090436"/>
            <a:ext cx="19350" cy="795034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3" name="Line 66"/>
          <p:cNvSpPr>
            <a:spLocks noChangeShapeType="1"/>
          </p:cNvSpPr>
          <p:nvPr/>
        </p:nvSpPr>
        <p:spPr bwMode="auto">
          <a:xfrm>
            <a:off x="2609802" y="3062958"/>
            <a:ext cx="19350" cy="795034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7" name="Line 517"/>
          <p:cNvSpPr>
            <a:spLocks noChangeShapeType="1"/>
          </p:cNvSpPr>
          <p:nvPr/>
        </p:nvSpPr>
        <p:spPr bwMode="auto">
          <a:xfrm>
            <a:off x="6128115" y="2901443"/>
            <a:ext cx="2225219" cy="31883"/>
          </a:xfrm>
          <a:prstGeom prst="line">
            <a:avLst/>
          </a:prstGeom>
          <a:noFill/>
          <a:ln w="222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55800" y="6356350"/>
            <a:ext cx="2743200" cy="365125"/>
          </a:xfrm>
        </p:spPr>
        <p:txBody>
          <a:bodyPr/>
          <a:lstStyle/>
          <a:p>
            <a:fld id="{8C55327C-A852-43A8-8ABA-2561D9FE215E}" type="datetime1">
              <a:rPr lang="zh-CN" altLang="en-US" smtClean="0"/>
              <a:pPr/>
              <a:t>2020/6/2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Text Box 241"/>
          <p:cNvSpPr txBox="1">
            <a:spLocks noChangeArrowheads="1"/>
          </p:cNvSpPr>
          <p:nvPr/>
        </p:nvSpPr>
        <p:spPr bwMode="auto">
          <a:xfrm>
            <a:off x="2810474" y="462091"/>
            <a:ext cx="5821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None/>
            </a:pPr>
            <a:r>
              <a:rPr lang="zh-CN" altLang="en-US" sz="2400" b="1" dirty="0"/>
              <a:t>贵州中烟工业公司网络</a:t>
            </a:r>
            <a:r>
              <a:rPr lang="en-US" altLang="zh-CN" sz="2400" b="1" dirty="0"/>
              <a:t>-Web</a:t>
            </a:r>
            <a:r>
              <a:rPr lang="zh-CN" altLang="en-US" sz="2400" b="1" dirty="0"/>
              <a:t>安全网关</a:t>
            </a:r>
            <a:endParaRPr lang="zh-CN" altLang="en-US" sz="2000" b="1" dirty="0"/>
          </a:p>
        </p:txBody>
      </p:sp>
      <p:sp>
        <p:nvSpPr>
          <p:cNvPr id="17" name="Text Box 219"/>
          <p:cNvSpPr txBox="1">
            <a:spLocks noChangeArrowheads="1"/>
          </p:cNvSpPr>
          <p:nvPr/>
        </p:nvSpPr>
        <p:spPr bwMode="auto">
          <a:xfrm>
            <a:off x="3287231" y="2968318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光纤链路</a:t>
            </a:r>
          </a:p>
        </p:txBody>
      </p:sp>
      <p:pic>
        <p:nvPicPr>
          <p:cNvPr id="19" name="Picture 460" descr="图片23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8747" y="3806104"/>
            <a:ext cx="728230" cy="755738"/>
          </a:xfrm>
          <a:prstGeom prst="rect">
            <a:avLst/>
          </a:prstGeom>
          <a:noFill/>
        </p:spPr>
      </p:pic>
      <p:pic>
        <p:nvPicPr>
          <p:cNvPr id="20" name="Picture 460" descr="图片23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8747" y="2350471"/>
            <a:ext cx="789508" cy="819331"/>
          </a:xfrm>
          <a:prstGeom prst="rect">
            <a:avLst/>
          </a:prstGeom>
          <a:noFill/>
        </p:spPr>
      </p:pic>
      <p:sp>
        <p:nvSpPr>
          <p:cNvPr id="21" name="矩形 20"/>
          <p:cNvSpPr/>
          <p:nvPr/>
        </p:nvSpPr>
        <p:spPr>
          <a:xfrm>
            <a:off x="2631456" y="1995923"/>
            <a:ext cx="21468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</a:rPr>
              <a:t>CE6810-1-2</a:t>
            </a:r>
            <a:endParaRPr lang="zh-CN" altLang="en-US" dirty="0"/>
          </a:p>
        </p:txBody>
      </p:sp>
      <p:sp>
        <p:nvSpPr>
          <p:cNvPr id="35" name="Line 66"/>
          <p:cNvSpPr>
            <a:spLocks noChangeShapeType="1"/>
          </p:cNvSpPr>
          <p:nvPr/>
        </p:nvSpPr>
        <p:spPr bwMode="auto">
          <a:xfrm>
            <a:off x="8414482" y="3075478"/>
            <a:ext cx="21657" cy="2056329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619144" y="5239336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华为服务器</a:t>
            </a:r>
            <a:endParaRPr lang="en-US" altLang="zh-CN" dirty="0"/>
          </a:p>
          <a:p>
            <a:r>
              <a:rPr lang="zh-CN" altLang="en-US" dirty="0"/>
              <a:t>外网网站、邮件系统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934127" y="249056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XE2</a:t>
            </a:r>
            <a:endParaRPr lang="zh-CN" altLang="en-US" dirty="0"/>
          </a:p>
        </p:txBody>
      </p:sp>
      <p:pic>
        <p:nvPicPr>
          <p:cNvPr id="40" name="Picture 509" descr="防火墙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603" y="2621381"/>
            <a:ext cx="966788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文本框 47"/>
          <p:cNvSpPr txBox="1"/>
          <p:nvPr/>
        </p:nvSpPr>
        <p:spPr>
          <a:xfrm>
            <a:off x="4677655" y="3204729"/>
            <a:ext cx="203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/>
              <a:t>天清</a:t>
            </a:r>
            <a:r>
              <a:rPr lang="en-US" altLang="zh-CN" dirty="0"/>
              <a:t>Web</a:t>
            </a:r>
            <a:r>
              <a:rPr lang="zh-CN" altLang="en-US" dirty="0"/>
              <a:t>安全网关</a:t>
            </a:r>
          </a:p>
        </p:txBody>
      </p:sp>
      <p:pic>
        <p:nvPicPr>
          <p:cNvPr id="50" name="Picture 459" descr="图片23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53334" y="2577958"/>
            <a:ext cx="652992" cy="688323"/>
          </a:xfrm>
          <a:prstGeom prst="rect">
            <a:avLst/>
          </a:prstGeom>
          <a:noFill/>
        </p:spPr>
      </p:pic>
      <p:sp>
        <p:nvSpPr>
          <p:cNvPr id="55" name="文本框 54"/>
          <p:cNvSpPr txBox="1"/>
          <p:nvPr/>
        </p:nvSpPr>
        <p:spPr>
          <a:xfrm>
            <a:off x="8061712" y="2156610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0/1</a:t>
            </a:r>
            <a:r>
              <a:rPr lang="zh-CN" altLang="zh-CN" dirty="0"/>
              <a:t>插槽</a:t>
            </a:r>
            <a:r>
              <a:rPr lang="zh-CN" altLang="en-US" dirty="0"/>
              <a:t>光</a:t>
            </a:r>
            <a:r>
              <a:rPr lang="zh-CN" altLang="zh-CN" dirty="0"/>
              <a:t>口</a:t>
            </a:r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9006326" y="2788378"/>
            <a:ext cx="1277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DP LSW6600</a:t>
            </a:r>
            <a:endParaRPr lang="zh-CN" altLang="en-US" sz="1400" b="1" dirty="0"/>
          </a:p>
        </p:txBody>
      </p:sp>
      <p:sp>
        <p:nvSpPr>
          <p:cNvPr id="58" name="Text Box 219"/>
          <p:cNvSpPr txBox="1">
            <a:spLocks noChangeArrowheads="1"/>
          </p:cNvSpPr>
          <p:nvPr/>
        </p:nvSpPr>
        <p:spPr bwMode="auto">
          <a:xfrm>
            <a:off x="6554810" y="2966955"/>
            <a:ext cx="14478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200" dirty="0"/>
              <a:t>  10G</a:t>
            </a:r>
            <a:r>
              <a:rPr lang="zh-CN" altLang="en-US" sz="1200" dirty="0"/>
              <a:t>光纤链路</a:t>
            </a:r>
          </a:p>
        </p:txBody>
      </p:sp>
      <p:sp>
        <p:nvSpPr>
          <p:cNvPr id="59" name="Line 66"/>
          <p:cNvSpPr>
            <a:spLocks noChangeShapeType="1"/>
          </p:cNvSpPr>
          <p:nvPr/>
        </p:nvSpPr>
        <p:spPr bwMode="auto">
          <a:xfrm>
            <a:off x="8566881" y="3186024"/>
            <a:ext cx="20096" cy="194578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0" name="Line 66"/>
          <p:cNvSpPr>
            <a:spLocks noChangeShapeType="1"/>
          </p:cNvSpPr>
          <p:nvPr/>
        </p:nvSpPr>
        <p:spPr bwMode="auto">
          <a:xfrm>
            <a:off x="8744216" y="3218372"/>
            <a:ext cx="42647" cy="191343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1" name="Line 66"/>
          <p:cNvSpPr>
            <a:spLocks noChangeShapeType="1"/>
          </p:cNvSpPr>
          <p:nvPr/>
        </p:nvSpPr>
        <p:spPr bwMode="auto">
          <a:xfrm>
            <a:off x="8939263" y="3219952"/>
            <a:ext cx="20989" cy="191185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" name="文本框 63"/>
          <p:cNvSpPr txBox="1"/>
          <p:nvPr/>
        </p:nvSpPr>
        <p:spPr>
          <a:xfrm>
            <a:off x="4761673" y="24358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XE1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7622063" y="5131807"/>
            <a:ext cx="2262158" cy="73117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229398" y="3747855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聚合组</a:t>
            </a:r>
            <a:r>
              <a:rPr lang="en-US" altLang="zh-CN" sz="1600" dirty="0"/>
              <a:t>10</a:t>
            </a:r>
            <a:endParaRPr lang="zh-CN" altLang="en-US" sz="1600" dirty="0"/>
          </a:p>
        </p:txBody>
      </p:sp>
      <p:sp>
        <p:nvSpPr>
          <p:cNvPr id="66" name="文本框 65"/>
          <p:cNvSpPr txBox="1"/>
          <p:nvPr/>
        </p:nvSpPr>
        <p:spPr>
          <a:xfrm>
            <a:off x="9003728" y="3506302"/>
            <a:ext cx="1012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聚合组</a:t>
            </a:r>
            <a:r>
              <a:rPr lang="en-US" altLang="zh-CN" sz="1600" dirty="0"/>
              <a:t>11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09733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2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3868</TotalTime>
  <Pages>0</Pages>
  <Words>940</Words>
  <Characters>0</Characters>
  <Application>Microsoft Office PowerPoint</Application>
  <DocSecurity>0</DocSecurity>
  <PresentationFormat>宽屏</PresentationFormat>
  <Lines>0</Lines>
  <Paragraphs>332</Paragraphs>
  <Slides>13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Office 主题</vt:lpstr>
      <vt:lpstr>Visio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wgs</cp:lastModifiedBy>
  <cp:revision>448</cp:revision>
  <dcterms:created xsi:type="dcterms:W3CDTF">2013-06-08T23:26:00Z</dcterms:created>
  <dcterms:modified xsi:type="dcterms:W3CDTF">2020-06-02T07:48:18Z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2052-9.1.0.5132</vt:lpwstr>
  </property>
  <property fmtid="{D5CDD505-2E9C-101B-9397-08002B2CF9AE}" pid="3" name="_2015_ms_pID_725343">
    <vt:lpwstr>(3)KRFuXLbJkmzhYkSmre42nDL0FSIu1aqqTh1x6jK5Xd7e3r0F5mgUu10SFh8gZPr4jZwdYpiC
xudO/vvNTyuPw0Gg7CyYG4XX4Up7JXZ934o9/GBEd9Lob39UNf0K8bwI/uOBqJaj18ge+aHO
0zQtrRxRzjYOWPKTRQdVC2KD92dn+qxukzLFAnLN/ZnZsn4wX9Hf5UN81IEFLocqW/LR1Kku
GRjIuUIAPzB8iNrK2f</vt:lpwstr>
  </property>
  <property fmtid="{D5CDD505-2E9C-101B-9397-08002B2CF9AE}" pid="4" name="_2015_ms_pID_7253431">
    <vt:lpwstr>qUOfnyA+KeZguatcKo5iuVlsGag29D8MiQd+/Pyo3pRwkzLSjhxwZa
BwZrRWpVFqGQBPACowGXj0ktZickFKvlveHiJDuam7qt2rXCiyP2abMK2AjqOpot5YYnDS1b
BkIiF46Ngdh0ac+y0jtY1q8jaSb7JMDyt90PPg1ipLRLjkaOoj7BfVVtwUjbudeCkwZh16sk
KKN15wBpqIoSy+wOqFvh+DmUhLmL3C+43kBU</vt:lpwstr>
  </property>
  <property fmtid="{D5CDD505-2E9C-101B-9397-08002B2CF9AE}" pid="5" name="_2015_ms_pID_7253432">
    <vt:lpwstr>WQCsqtIuMx9g9HajEO+V7HYlCHTLgPRKnEHd
Qh5K51uP</vt:lpwstr>
  </property>
</Properties>
</file>